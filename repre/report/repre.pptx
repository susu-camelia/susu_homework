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68" r:id="rId3"/>
    <p:sldId id="264" r:id="rId4"/>
    <p:sldId id="258" r:id="rId5"/>
    <p:sldId id="270" r:id="rId6"/>
    <p:sldId id="271" r:id="rId7"/>
    <p:sldId id="263" r:id="rId8"/>
    <p:sldId id="273" r:id="rId9"/>
    <p:sldId id="274" r:id="rId10"/>
    <p:sldId id="275" r:id="rId11"/>
    <p:sldId id="276" r:id="rId12"/>
    <p:sldId id="281" r:id="rId13"/>
    <p:sldId id="277" r:id="rId14"/>
    <p:sldId id="278" r:id="rId15"/>
    <p:sldId id="282" r:id="rId16"/>
    <p:sldId id="280" r:id="rId17"/>
    <p:sldId id="279" r:id="rId18"/>
    <p:sldId id="267" r:id="rId19"/>
    <p:sldId id="266" r:id="rId20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869C"/>
    <a:srgbClr val="4C1934"/>
    <a:srgbClr val="2E1621"/>
    <a:srgbClr val="623A46"/>
    <a:srgbClr val="944B6D"/>
    <a:srgbClr val="C76592"/>
    <a:srgbClr val="EE3CB1"/>
    <a:srgbClr val="FE8AB9"/>
    <a:srgbClr val="472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29"/>
  </p:normalViewPr>
  <p:slideViewPr>
    <p:cSldViewPr snapToGrid="0">
      <p:cViewPr varScale="1">
        <p:scale>
          <a:sx n="50" d="100"/>
          <a:sy n="50" d="100"/>
        </p:scale>
        <p:origin x="208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D1D80-A0FB-D0DB-F448-A0E895686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64BD6-1A7C-EC14-F88E-FFBA92D13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93E84-0D39-58D9-510F-69BE5C88C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5A1BE-9C69-0AD9-C30A-3E3412EBE47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5368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6E626-E16A-330F-5C56-29D68E161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72573F-AC65-DD47-49D6-8F85E2146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44CEE-4D24-5318-799B-80228CC52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5DF01-BE65-0438-1B11-F379A4BB8F7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9466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E8B1F-1DAD-C949-B5EE-A3CD03D21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94875C-2F54-281B-44CE-0C7120AC7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CCC936-3C89-A701-4EF3-FB211219E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46C5C-754B-68AC-13CE-33907EF88BE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0655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8E826-25EE-3F9E-E4A7-E9DF0B34F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942CA-E3CC-62F9-FE41-5AF49895A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378CA1-969B-B548-E570-61ACC346F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0148B-DFC0-1ACE-341C-050CD6A092D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6423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EEB91-EDD8-F198-0578-098ED66E8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218D9-75A4-D601-9A82-C633E085C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52B795-0EB4-0DAC-981A-1FA1AA9F7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E3B55-D1A5-B884-AE73-0ADF7F2E902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3626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8B176-CAFE-FF6D-4408-BEE7F18DE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65C46-A79C-0399-CC52-0322DDD82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F8CF9-2B47-9213-72A8-29BF08F12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不一致</a:t>
            </a:r>
            <a:r>
              <a:rPr lang="en-US" altLang="zh-CN" dirty="0"/>
              <a:t>-</a:t>
            </a:r>
            <a:r>
              <a:rPr lang="zh-CN" altLang="en-US" dirty="0"/>
              <a:t>一致，</a:t>
            </a:r>
            <a:r>
              <a:rPr lang="en-US" altLang="zh-CN" dirty="0"/>
              <a:t>rt</a:t>
            </a:r>
            <a:r>
              <a:rPr lang="zh-CN" altLang="en-US" dirty="0"/>
              <a:t>不一致更慢，</a:t>
            </a:r>
            <a:r>
              <a:rPr lang="en-US" altLang="zh-CN" dirty="0"/>
              <a:t>acc</a:t>
            </a:r>
            <a:r>
              <a:rPr lang="zh-CN" altLang="en-US" dirty="0"/>
              <a:t>不一致更易错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58A6F-EC29-B083-B7F6-51B93E2FBC3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5212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6D601-AB87-BAEE-1DE2-1421D03C0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16DF8-ADFE-09CF-0499-3AFB6DDDB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E44FA-4FB1-D77A-C1DD-1F51AEC36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不一致</a:t>
            </a:r>
            <a:r>
              <a:rPr lang="en-US" altLang="zh-CN" dirty="0"/>
              <a:t>-</a:t>
            </a:r>
            <a:r>
              <a:rPr lang="zh-CN" altLang="en-US" dirty="0"/>
              <a:t>一致，</a:t>
            </a:r>
            <a:r>
              <a:rPr lang="en-US" altLang="zh-CN" dirty="0"/>
              <a:t>rt</a:t>
            </a:r>
            <a:r>
              <a:rPr lang="zh-CN" altLang="en-US" dirty="0"/>
              <a:t>不一致更慢，</a:t>
            </a:r>
            <a:r>
              <a:rPr lang="en-US" altLang="zh-CN" dirty="0"/>
              <a:t>acc</a:t>
            </a:r>
            <a:r>
              <a:rPr lang="zh-CN" altLang="en-US" dirty="0"/>
              <a:t>不一致更易错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25163-2FA6-1A8A-00EA-EB14DBDA933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4512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EED66-FDA4-F378-6059-41B8ECEFA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B553C-FF8D-D745-EFA1-833F0B8DF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E5647-97A0-161F-2784-271E15C2F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EF</a:t>
            </a:r>
            <a:r>
              <a:rPr lang="zh-CN" altLang="en-US" dirty="0"/>
              <a:t>执行控制能力 </a:t>
            </a:r>
            <a:r>
              <a:rPr lang="zh-CN" altLang="zh-CN" sz="1200" kern="1200" dirty="0">
                <a:effectLst/>
              </a:rPr>
              <a:t>三重交互 switch×reward×EF 指‘奖赏对切换代价的影响’本身是否随 EF 变化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BBF38-FF19-E0A6-8BAE-7C77A3256F0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54956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581BA-7F29-F69F-C04C-8AA40DCD9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A0D69-96C4-FA8E-20BF-AC0DBF2CF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9B453-82B1-DEAC-2484-148C74F49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B9904-F508-B943-B5C6-0807279BDE8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77806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BF5D1-13E8-E01C-EF26-2C7CD7635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25171-CEC3-3CA9-6016-3D7D0021C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C0A2B2-128B-86FF-1527-867F21736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EF 弱的人,奖励越能降低其切换代价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EEB38-F99C-7629-51CB-09359A82BF8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41549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FD4F3-A95F-B1A2-C13E-6D4427524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309E8-30AD-E846-9D7C-24C1F34AF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ABC87-7649-07AD-748F-35529CE88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NFC</a:t>
            </a:r>
            <a:r>
              <a:rPr lang="zh-CN" altLang="en-US"/>
              <a:t>：认知能力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8FC09-525B-1AB2-D00D-3505C9D9620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01216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AB5CE-B5B9-4AFE-F5DE-17635F6C5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F18906-B197-EB85-0959-EE99E75C6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70E2E-FFED-6D3C-90C4-3A29A5019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5F05C-AF0C-9C33-C68D-FA06228CA90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38386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2333C-DF5E-4CD3-54E0-58DA21BA5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943468-15D2-F574-F951-E3ABC0AC3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321D1-3488-007F-05AA-468B7BA2D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D5453-562C-6B35-491B-6FBBD0546C5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47838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被试数据和随机效应的影响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A595902B-E7EC-4DFB-BCD9-BE2655CE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sz="345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0D0D5C93-F1CF-4000-BD4B-EF1C8B50F38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2EE73F8B-D6D3-426B-B3A9-1BB0724478BF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51BF90E6-F07F-4CD9-8399-8D0061F950A3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E8BA2D25-17E8-4A21-9F37-B2EE4ED39D3E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6EC85132-3A14-4D5A-A5AC-3FB2BEF3D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buNone/>
              <a:defRPr sz="345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C0B44EF9-7A71-475E-994B-2692CC65B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buNone/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6E34D55B-75B8-4ED0-A777-2A092C920B0F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B81DE565-49D3-4FE3-B5B4-1717FFE1C1A3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B41CF83F-F52F-4F8B-A386-F986F35606CE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g object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2" name="bg object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026" y="7498093"/>
            <a:ext cx="1248292" cy="1248292"/>
          </a:xfrm>
          <a:prstGeom prst="rect">
            <a:avLst/>
          </a:prstGeom>
        </p:spPr>
      </p:pic>
      <p:sp>
        <p:nvSpPr>
          <p:cNvPr id="18" name="bg object 18">
            <a:extLst>
              <a:ext uri="{FF2B5EF4-FFF2-40B4-BE49-F238E27FC236}">
                <a16:creationId xmlns:a16="http://schemas.microsoft.com/office/drawing/2014/main" id="{FA93B3F2-C6AA-43F1-BC69-FFF4D02E6A70}"/>
              </a:ext>
            </a:extLst>
          </p:cNvPr>
          <p:cNvSpPr>
            <a:spLocks noGrp="1"/>
          </p:cNvSpPr>
          <p:nvPr/>
        </p:nvSpPr>
        <p:spPr>
          <a:xfrm>
            <a:off x="3105649" y="7309511"/>
            <a:ext cx="4944745" cy="1621155"/>
          </a:xfrm>
          <a:custGeom>
            <a:avLst/>
            <a:gdLst/>
            <a:ahLst/>
            <a:cxnLst/>
            <a:rect l="l" t="t" r="r" b="b"/>
            <a:pathLst>
              <a:path w="4944745" h="1621154">
                <a:moveTo>
                  <a:pt x="4944233" y="1620644"/>
                </a:moveTo>
                <a:lnTo>
                  <a:pt x="0" y="1620644"/>
                </a:lnTo>
                <a:lnTo>
                  <a:pt x="0" y="0"/>
                </a:lnTo>
                <a:lnTo>
                  <a:pt x="4944233" y="0"/>
                </a:lnTo>
                <a:lnTo>
                  <a:pt x="4944233" y="1620644"/>
                </a:lnTo>
                <a:close/>
              </a:path>
            </a:pathLst>
          </a:custGeom>
          <a:solidFill>
            <a:srgbClr val="673C46"/>
          </a:solidFill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19" name="bg object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272" y="8135913"/>
            <a:ext cx="95250" cy="95249"/>
          </a:xfrm>
          <a:prstGeom prst="rect">
            <a:avLst/>
          </a:prstGeom>
        </p:spPr>
      </p:pic>
      <p:pic>
        <p:nvPicPr>
          <p:cNvPr id="20" name="bg object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272" y="8488338"/>
            <a:ext cx="95250" cy="95249"/>
          </a:xfrm>
          <a:prstGeom prst="rect">
            <a:avLst/>
          </a:prstGeom>
        </p:spPr>
      </p:pic>
      <p:pic>
        <p:nvPicPr>
          <p:cNvPr id="21" name="bg object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2031" y="7506336"/>
            <a:ext cx="8907681" cy="2780611"/>
          </a:xfrm>
          <a:prstGeom prst="rect">
            <a:avLst/>
          </a:prstGeom>
        </p:spPr>
      </p:pic>
      <p:sp>
        <p:nvSpPr>
          <p:cNvPr id="22" name="bg object 22">
            <a:extLst>
              <a:ext uri="{FF2B5EF4-FFF2-40B4-BE49-F238E27FC236}">
                <a16:creationId xmlns:a16="http://schemas.microsoft.com/office/drawing/2014/main" id="{7C417F9D-06E2-4B66-9993-51E5A274BB37}"/>
              </a:ext>
            </a:extLst>
          </p:cNvPr>
          <p:cNvSpPr>
            <a:spLocks noGrp="1"/>
          </p:cNvSpPr>
          <p:nvPr/>
        </p:nvSpPr>
        <p:spPr>
          <a:xfrm>
            <a:off x="11433530" y="7308291"/>
            <a:ext cx="4944745" cy="1621155"/>
          </a:xfrm>
          <a:custGeom>
            <a:avLst/>
            <a:gdLst/>
            <a:ahLst/>
            <a:cxnLst/>
            <a:rect l="l" t="t" r="r" b="b"/>
            <a:pathLst>
              <a:path w="4944744" h="1621154">
                <a:moveTo>
                  <a:pt x="4944233" y="1620644"/>
                </a:moveTo>
                <a:lnTo>
                  <a:pt x="0" y="1620644"/>
                </a:lnTo>
                <a:lnTo>
                  <a:pt x="0" y="0"/>
                </a:lnTo>
                <a:lnTo>
                  <a:pt x="4944233" y="0"/>
                </a:lnTo>
                <a:lnTo>
                  <a:pt x="4944233" y="1620644"/>
                </a:lnTo>
                <a:close/>
              </a:path>
            </a:pathLst>
          </a:custGeom>
          <a:solidFill>
            <a:srgbClr val="AA6474"/>
          </a:solidFill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23" name="bg object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0950" y="7498093"/>
            <a:ext cx="1248292" cy="1248292"/>
          </a:xfrm>
          <a:prstGeom prst="rect">
            <a:avLst/>
          </a:prstGeom>
        </p:spPr>
      </p:pic>
      <p:pic>
        <p:nvPicPr>
          <p:cNvPr id="24" name="bg object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427" y="8186485"/>
            <a:ext cx="95250" cy="95249"/>
          </a:xfrm>
          <a:prstGeom prst="rect">
            <a:avLst/>
          </a:prstGeom>
        </p:spPr>
      </p:pic>
      <p:pic>
        <p:nvPicPr>
          <p:cNvPr id="25" name="bg object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427" y="8538910"/>
            <a:ext cx="95250" cy="95249"/>
          </a:xfrm>
          <a:prstGeom prst="rect">
            <a:avLst/>
          </a:prstGeom>
        </p:spPr>
      </p:pic>
      <p:sp>
        <p:nvSpPr>
          <p:cNvPr id="9" name="Holder 2">
            <a:extLst>
              <a:ext uri="{FF2B5EF4-FFF2-40B4-BE49-F238E27FC236}">
                <a16:creationId xmlns:a16="http://schemas.microsoft.com/office/drawing/2014/main" id="{76C711FA-7E78-4AAF-BB11-073AEE88D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buNone/>
              <a:defRPr sz="345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AC2F0FC6-239F-433A-A936-C5A5B2C1F34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E12935AE-47E0-4AF7-A247-D318AAC4B9CF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EB463745-8400-4D9C-8C07-E334B94B8239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302FE53E-3D9F-495A-B05E-FE1113FB7CA7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Holder 7">
            <a:extLst>
              <a:ext uri="{FF2B5EF4-FFF2-40B4-BE49-F238E27FC236}">
                <a16:creationId xmlns:a16="http://schemas.microsoft.com/office/drawing/2014/main" id="{C8BB7FA2-5EC4-4FC3-A414-ED95B189DFE9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CBBF1ED2-A813-4E34-89D0-0BF5CDEBD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buNone/>
              <a:defRPr sz="345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CC7A1B20-E7B6-43BB-A75E-2446BAB741EC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24015971-DB8D-4BE2-8041-5C85F7C38E71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8B70578B-5813-4B3F-91F5-2788579F85C9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817421C1-6D51-4F0C-9118-CD8D75F8BB7A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CB992DC7-6980-41A2-AED0-77F4714D9955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F996701C-99B7-4255-9747-F17452863652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340A508B-13EB-4AB7-8503-68880CA7B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711501"/>
            <a:ext cx="16256000" cy="2092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sz="345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F6D14A5A-6EB8-41CE-8F14-EE45378B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8497" y="2957729"/>
            <a:ext cx="15344775" cy="6316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666C53D6-DC88-4D14-8E88-1C1FE1A1E7F8}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0E782AEF-F306-4F71-87C4-B7115332F01B}"/>
              </a:ext>
            </a:extLst>
          </p:cNvPr>
          <p:cNvSpPr>
            <a:spLocks noGrp="1"/>
          </p:cNvSpPr>
          <p:nvPr>
            <p:ph type="dt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A12AB85D-50DB-4186-8A08-20D3401D475C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buNone/>
        <a:defRPr>
          <a:latin typeface="+mj-lt"/>
          <a:ea typeface="+mj-lt"/>
          <a:cs typeface="+mj-lt"/>
        </a:defRPr>
      </a:lvl1pPr>
    </p:titleStyle>
    <p:bodyStyle>
      <a:lvl1pPr marL="0">
        <a:buNone/>
        <a:defRPr>
          <a:latin typeface="+mn-lt"/>
          <a:ea typeface="+mn-lt"/>
          <a:cs typeface="+mn-lt"/>
        </a:defRPr>
      </a:lvl1pPr>
      <a:lvl2pPr marL="457200">
        <a:buNone/>
        <a:defRPr>
          <a:latin typeface="+mn-lt"/>
          <a:ea typeface="+mn-lt"/>
          <a:cs typeface="+mn-lt"/>
        </a:defRPr>
      </a:lvl2pPr>
      <a:lvl3pPr marL="914400">
        <a:buNone/>
        <a:defRPr>
          <a:latin typeface="+mn-lt"/>
          <a:ea typeface="+mn-lt"/>
          <a:cs typeface="+mn-lt"/>
        </a:defRPr>
      </a:lvl3pPr>
      <a:lvl4pPr marL="1371600">
        <a:buNone/>
        <a:defRPr>
          <a:latin typeface="+mn-lt"/>
          <a:ea typeface="+mn-lt"/>
          <a:cs typeface="+mn-lt"/>
        </a:defRPr>
      </a:lvl4pPr>
      <a:lvl5pPr marL="1828800">
        <a:buNone/>
        <a:defRPr>
          <a:latin typeface="+mn-lt"/>
          <a:ea typeface="+mn-lt"/>
          <a:cs typeface="+mn-lt"/>
        </a:defRPr>
      </a:lvl5pPr>
      <a:lvl6pPr marL="2286000">
        <a:buNone/>
        <a:defRPr>
          <a:latin typeface="+mn-lt"/>
          <a:ea typeface="+mn-lt"/>
          <a:cs typeface="+mn-lt"/>
        </a:defRPr>
      </a:lvl6pPr>
      <a:lvl7pPr marL="2743200">
        <a:buNone/>
        <a:defRPr>
          <a:latin typeface="+mn-lt"/>
          <a:ea typeface="+mn-lt"/>
          <a:cs typeface="+mn-lt"/>
        </a:defRPr>
      </a:lvl7pPr>
      <a:lvl8pPr marL="3200400">
        <a:buNone/>
        <a:defRPr>
          <a:latin typeface="+mn-lt"/>
          <a:ea typeface="+mn-lt"/>
          <a:cs typeface="+mn-lt"/>
        </a:defRPr>
      </a:lvl8pPr>
      <a:lvl9pPr marL="3657600">
        <a:buNone/>
        <a:defRPr>
          <a:latin typeface="+mn-lt"/>
          <a:ea typeface="+mn-lt"/>
          <a:cs typeface="+mn-lt"/>
        </a:defRPr>
      </a:lvl9pPr>
    </p:bodyStyle>
    <p:otherStyle>
      <a:lvl1pPr marL="0">
        <a:buNone/>
        <a:defRPr>
          <a:latin typeface="+mn-lt"/>
          <a:ea typeface="+mn-lt"/>
          <a:cs typeface="+mn-lt"/>
        </a:defRPr>
      </a:lvl1pPr>
      <a:lvl2pPr marL="457200">
        <a:buNone/>
        <a:defRPr>
          <a:latin typeface="+mn-lt"/>
          <a:ea typeface="+mn-lt"/>
          <a:cs typeface="+mn-lt"/>
        </a:defRPr>
      </a:lvl2pPr>
      <a:lvl3pPr marL="914400">
        <a:buNone/>
        <a:defRPr>
          <a:latin typeface="+mn-lt"/>
          <a:ea typeface="+mn-lt"/>
          <a:cs typeface="+mn-lt"/>
        </a:defRPr>
      </a:lvl3pPr>
      <a:lvl4pPr marL="1371600">
        <a:buNone/>
        <a:defRPr>
          <a:latin typeface="+mn-lt"/>
          <a:ea typeface="+mn-lt"/>
          <a:cs typeface="+mn-lt"/>
        </a:defRPr>
      </a:lvl4pPr>
      <a:lvl5pPr marL="1828800">
        <a:buNone/>
        <a:defRPr>
          <a:latin typeface="+mn-lt"/>
          <a:ea typeface="+mn-lt"/>
          <a:cs typeface="+mn-lt"/>
        </a:defRPr>
      </a:lvl5pPr>
      <a:lvl6pPr marL="2286000">
        <a:buNone/>
        <a:defRPr>
          <a:latin typeface="+mn-lt"/>
          <a:ea typeface="+mn-lt"/>
          <a:cs typeface="+mn-lt"/>
        </a:defRPr>
      </a:lvl6pPr>
      <a:lvl7pPr marL="2743200">
        <a:buNone/>
        <a:defRPr>
          <a:latin typeface="+mn-lt"/>
          <a:ea typeface="+mn-lt"/>
          <a:cs typeface="+mn-lt"/>
        </a:defRPr>
      </a:lvl7pPr>
      <a:lvl8pPr marL="3200400">
        <a:buNone/>
        <a:defRPr>
          <a:latin typeface="+mn-lt"/>
          <a:ea typeface="+mn-lt"/>
          <a:cs typeface="+mn-lt"/>
        </a:defRPr>
      </a:lvl8pPr>
      <a:lvl9pPr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2" name="object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979" y="-10546"/>
            <a:ext cx="10501033" cy="4792712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CA67551F-B448-4031-81AA-F7B72C4E637B}"/>
              </a:ext>
            </a:extLst>
          </p:cNvPr>
          <p:cNvSpPr>
            <a:spLocks noGrp="1"/>
          </p:cNvSpPr>
          <p:nvPr/>
        </p:nvSpPr>
        <p:spPr>
          <a:xfrm>
            <a:off x="7680362" y="1083467"/>
            <a:ext cx="3080385" cy="33020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000">
                <a:solidFill>
                  <a:srgbClr val="FFFFFF"/>
                </a:solidFill>
                <a:latin typeface="Arial"/>
                <a:ea typeface="Arial"/>
                <a:cs typeface="Arial"/>
              </a:rPr>
              <a:t>心理学院R语言课程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A54412B-033A-421F-B09E-5B0D3B8BFD35}"/>
              </a:ext>
            </a:extLst>
          </p:cNvPr>
          <p:cNvSpPr>
            <a:spLocks noGrp="1"/>
          </p:cNvSpPr>
          <p:nvPr/>
        </p:nvSpPr>
        <p:spPr>
          <a:xfrm>
            <a:off x="6374488" y="8741289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202896" y="333346"/>
                </a:moveTo>
                <a:lnTo>
                  <a:pt x="134940" y="333346"/>
                </a:lnTo>
                <a:lnTo>
                  <a:pt x="123934" y="331865"/>
                </a:lnTo>
                <a:lnTo>
                  <a:pt x="83598" y="314871"/>
                </a:lnTo>
                <a:lnTo>
                  <a:pt x="49426" y="288493"/>
                </a:lnTo>
                <a:lnTo>
                  <a:pt x="23030" y="254314"/>
                </a:lnTo>
                <a:lnTo>
                  <a:pt x="6018" y="213911"/>
                </a:lnTo>
                <a:lnTo>
                  <a:pt x="0" y="168865"/>
                </a:lnTo>
                <a:lnTo>
                  <a:pt x="6067" y="123785"/>
                </a:lnTo>
                <a:lnTo>
                  <a:pt x="23143" y="83403"/>
                </a:lnTo>
                <a:lnTo>
                  <a:pt x="49605" y="49269"/>
                </a:lnTo>
                <a:lnTo>
                  <a:pt x="83819" y="22948"/>
                </a:lnTo>
                <a:lnTo>
                  <a:pt x="124154" y="6004"/>
                </a:lnTo>
                <a:lnTo>
                  <a:pt x="168980" y="0"/>
                </a:lnTo>
                <a:lnTo>
                  <a:pt x="213872" y="6028"/>
                </a:lnTo>
                <a:lnTo>
                  <a:pt x="254221" y="23066"/>
                </a:lnTo>
                <a:lnTo>
                  <a:pt x="278476" y="41815"/>
                </a:lnTo>
                <a:lnTo>
                  <a:pt x="168951" y="41815"/>
                </a:lnTo>
                <a:lnTo>
                  <a:pt x="156751" y="44257"/>
                </a:lnTo>
                <a:lnTo>
                  <a:pt x="146837" y="50930"/>
                </a:lnTo>
                <a:lnTo>
                  <a:pt x="140182" y="60857"/>
                </a:lnTo>
                <a:lnTo>
                  <a:pt x="137761" y="73062"/>
                </a:lnTo>
                <a:lnTo>
                  <a:pt x="140235" y="85164"/>
                </a:lnTo>
                <a:lnTo>
                  <a:pt x="146937" y="95061"/>
                </a:lnTo>
                <a:lnTo>
                  <a:pt x="156883" y="101748"/>
                </a:lnTo>
                <a:lnTo>
                  <a:pt x="168980" y="104194"/>
                </a:lnTo>
                <a:lnTo>
                  <a:pt x="323483" y="104194"/>
                </a:lnTo>
                <a:lnTo>
                  <a:pt x="328455" y="115975"/>
                </a:lnTo>
                <a:lnTo>
                  <a:pt x="166740" y="115975"/>
                </a:lnTo>
                <a:lnTo>
                  <a:pt x="158325" y="117913"/>
                </a:lnTo>
                <a:lnTo>
                  <a:pt x="150876" y="121972"/>
                </a:lnTo>
                <a:lnTo>
                  <a:pt x="145133" y="128020"/>
                </a:lnTo>
                <a:lnTo>
                  <a:pt x="141446" y="135566"/>
                </a:lnTo>
                <a:lnTo>
                  <a:pt x="140167" y="144119"/>
                </a:lnTo>
                <a:lnTo>
                  <a:pt x="140281" y="175223"/>
                </a:lnTo>
                <a:lnTo>
                  <a:pt x="140224" y="268535"/>
                </a:lnTo>
                <a:lnTo>
                  <a:pt x="143511" y="282696"/>
                </a:lnTo>
                <a:lnTo>
                  <a:pt x="151462" y="291007"/>
                </a:lnTo>
                <a:lnTo>
                  <a:pt x="161212" y="294919"/>
                </a:lnTo>
                <a:lnTo>
                  <a:pt x="169896" y="295886"/>
                </a:lnTo>
                <a:lnTo>
                  <a:pt x="278790" y="295886"/>
                </a:lnTo>
                <a:lnTo>
                  <a:pt x="254388" y="314791"/>
                </a:lnTo>
                <a:lnTo>
                  <a:pt x="213950" y="331867"/>
                </a:lnTo>
                <a:lnTo>
                  <a:pt x="202896" y="333346"/>
                </a:lnTo>
                <a:close/>
              </a:path>
              <a:path w="333375" h="333375">
                <a:moveTo>
                  <a:pt x="323483" y="104194"/>
                </a:moveTo>
                <a:lnTo>
                  <a:pt x="168980" y="104194"/>
                </a:lnTo>
                <a:lnTo>
                  <a:pt x="181150" y="101742"/>
                </a:lnTo>
                <a:lnTo>
                  <a:pt x="191033" y="95061"/>
                </a:lnTo>
                <a:lnTo>
                  <a:pt x="197680" y="85116"/>
                </a:lnTo>
                <a:lnTo>
                  <a:pt x="200112" y="72890"/>
                </a:lnTo>
                <a:lnTo>
                  <a:pt x="197668" y="60737"/>
                </a:lnTo>
                <a:lnTo>
                  <a:pt x="191019" y="50865"/>
                </a:lnTo>
                <a:lnTo>
                  <a:pt x="181126" y="44238"/>
                </a:lnTo>
                <a:lnTo>
                  <a:pt x="168951" y="41815"/>
                </a:lnTo>
                <a:lnTo>
                  <a:pt x="278476" y="41815"/>
                </a:lnTo>
                <a:lnTo>
                  <a:pt x="288411" y="49494"/>
                </a:lnTo>
                <a:lnTo>
                  <a:pt x="314831" y="83696"/>
                </a:lnTo>
                <a:lnTo>
                  <a:pt x="323483" y="104194"/>
                </a:lnTo>
                <a:close/>
              </a:path>
              <a:path w="333375" h="333375">
                <a:moveTo>
                  <a:pt x="278790" y="295886"/>
                </a:moveTo>
                <a:lnTo>
                  <a:pt x="169896" y="295886"/>
                </a:lnTo>
                <a:lnTo>
                  <a:pt x="180452" y="293775"/>
                </a:lnTo>
                <a:lnTo>
                  <a:pt x="189579" y="287935"/>
                </a:lnTo>
                <a:lnTo>
                  <a:pt x="195947" y="278974"/>
                </a:lnTo>
                <a:lnTo>
                  <a:pt x="198222" y="267503"/>
                </a:lnTo>
                <a:lnTo>
                  <a:pt x="198161" y="135566"/>
                </a:lnTo>
                <a:lnTo>
                  <a:pt x="166740" y="115975"/>
                </a:lnTo>
                <a:lnTo>
                  <a:pt x="328455" y="115975"/>
                </a:lnTo>
                <a:lnTo>
                  <a:pt x="331865" y="124054"/>
                </a:lnTo>
                <a:lnTo>
                  <a:pt x="333317" y="134852"/>
                </a:lnTo>
                <a:lnTo>
                  <a:pt x="333317" y="203013"/>
                </a:lnTo>
                <a:lnTo>
                  <a:pt x="331871" y="213760"/>
                </a:lnTo>
                <a:lnTo>
                  <a:pt x="314902" y="254097"/>
                </a:lnTo>
                <a:lnTo>
                  <a:pt x="288554" y="288322"/>
                </a:lnTo>
                <a:lnTo>
                  <a:pt x="278790" y="295886"/>
                </a:lnTo>
                <a:close/>
              </a:path>
            </a:pathLst>
          </a:custGeom>
          <a:solidFill>
            <a:srgbClr val="E3859C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12E4DB5-77A3-4649-B920-612A9B6C3EEF}"/>
              </a:ext>
            </a:extLst>
          </p:cNvPr>
          <p:cNvSpPr>
            <a:spLocks noGrp="1"/>
          </p:cNvSpPr>
          <p:nvPr/>
        </p:nvSpPr>
        <p:spPr>
          <a:xfrm>
            <a:off x="6818755" y="8740022"/>
            <a:ext cx="6032722" cy="351378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汇报人</a:t>
            </a:r>
            <a:r>
              <a:rPr lang="zh-CN" altLang="en-US" sz="2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：孙棋                  日期：</a:t>
            </a:r>
            <a:r>
              <a:rPr lang="en-US" altLang="zh-CN" sz="2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2026.06.04</a:t>
            </a:r>
            <a:endParaRPr sz="220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object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0488" y="4090925"/>
            <a:ext cx="6787443" cy="6195914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5AFAE7CB-0045-4E19-8111-A03580B5F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266" y="3893179"/>
            <a:ext cx="15677804" cy="2055691"/>
          </a:xfrm>
          <a:prstGeom prst="rect">
            <a:avLst/>
          </a:prstGeom>
        </p:spPr>
        <p:txBody>
          <a:bodyPr vert="horz" wrap="square" lIns="0" tIns="816610" rIns="0" bIns="0">
            <a:spAutoFit/>
          </a:bodyPr>
          <a:lstStyle/>
          <a:p>
            <a:pPr algn="ctr">
              <a:spcBef>
                <a:spcPts val="6430"/>
              </a:spcBef>
            </a:pPr>
            <a:r>
              <a:rPr lang="en" sz="4000" dirty="0"/>
              <a:t>Cognitive capacity limitations and Need for Cognition differentially predict reward-induced cognitive effort expenditure</a:t>
            </a:r>
            <a:endParaRPr sz="4000" b="0" dirty="0">
              <a:latin typeface="Arial"/>
              <a:ea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269C58F-D811-4133-9BC3-1608B6044E21}"/>
              </a:ext>
            </a:extLst>
          </p:cNvPr>
          <p:cNvSpPr>
            <a:spLocks noGrp="1"/>
          </p:cNvSpPr>
          <p:nvPr/>
        </p:nvSpPr>
        <p:spPr>
          <a:xfrm>
            <a:off x="6736278" y="1089753"/>
            <a:ext cx="411480" cy="285115"/>
          </a:xfrm>
          <a:custGeom>
            <a:avLst/>
            <a:gdLst/>
            <a:ahLst/>
            <a:cxnLst/>
            <a:rect l="l" t="t" r="r" b="b"/>
            <a:pathLst>
              <a:path w="411479" h="285115">
                <a:moveTo>
                  <a:pt x="197636" y="284844"/>
                </a:moveTo>
                <a:lnTo>
                  <a:pt x="0" y="284844"/>
                </a:lnTo>
                <a:lnTo>
                  <a:pt x="213726" y="0"/>
                </a:lnTo>
                <a:lnTo>
                  <a:pt x="328825" y="0"/>
                </a:lnTo>
                <a:lnTo>
                  <a:pt x="411363" y="0"/>
                </a:lnTo>
                <a:lnTo>
                  <a:pt x="197636" y="284844"/>
                </a:lnTo>
                <a:close/>
              </a:path>
            </a:pathLst>
          </a:custGeom>
          <a:solidFill>
            <a:srgbClr val="673C46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658C8DB2-24E5-4EF5-9C00-2E416BBB79ED}"/>
              </a:ext>
            </a:extLst>
          </p:cNvPr>
          <p:cNvSpPr>
            <a:spLocks noGrp="1"/>
          </p:cNvSpPr>
          <p:nvPr/>
        </p:nvSpPr>
        <p:spPr>
          <a:xfrm>
            <a:off x="6953464" y="1228619"/>
            <a:ext cx="408305" cy="280670"/>
          </a:xfrm>
          <a:custGeom>
            <a:avLst/>
            <a:gdLst/>
            <a:ahLst/>
            <a:cxnLst/>
            <a:rect l="l" t="t" r="r" b="b"/>
            <a:pathLst>
              <a:path w="408304" h="280669">
                <a:moveTo>
                  <a:pt x="197636" y="280234"/>
                </a:moveTo>
                <a:lnTo>
                  <a:pt x="0" y="280234"/>
                </a:lnTo>
                <a:lnTo>
                  <a:pt x="210267" y="0"/>
                </a:lnTo>
                <a:lnTo>
                  <a:pt x="407903" y="0"/>
                </a:lnTo>
                <a:lnTo>
                  <a:pt x="197636" y="280234"/>
                </a:lnTo>
                <a:close/>
              </a:path>
            </a:pathLst>
          </a:custGeom>
          <a:solidFill>
            <a:srgbClr val="AA6474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8021AEC8-1B95-42D0-BB50-595AAE75A43E}"/>
              </a:ext>
            </a:extLst>
          </p:cNvPr>
          <p:cNvSpPr>
            <a:spLocks noGrp="1"/>
          </p:cNvSpPr>
          <p:nvPr/>
        </p:nvSpPr>
        <p:spPr>
          <a:xfrm>
            <a:off x="6736270" y="1089760"/>
            <a:ext cx="625475" cy="419100"/>
          </a:xfrm>
          <a:custGeom>
            <a:avLst/>
            <a:gdLst/>
            <a:ahLst/>
            <a:cxnLst/>
            <a:rect l="l" t="t" r="r" b="b"/>
            <a:pathLst>
              <a:path w="625475" h="419100">
                <a:moveTo>
                  <a:pt x="407911" y="419100"/>
                </a:moveTo>
                <a:lnTo>
                  <a:pt x="197637" y="138861"/>
                </a:lnTo>
                <a:lnTo>
                  <a:pt x="0" y="138861"/>
                </a:lnTo>
                <a:lnTo>
                  <a:pt x="210273" y="419100"/>
                </a:lnTo>
                <a:lnTo>
                  <a:pt x="407911" y="419100"/>
                </a:lnTo>
                <a:close/>
              </a:path>
              <a:path w="625475" h="419100">
                <a:moveTo>
                  <a:pt x="625094" y="284848"/>
                </a:moveTo>
                <a:lnTo>
                  <a:pt x="411365" y="0"/>
                </a:lnTo>
                <a:lnTo>
                  <a:pt x="213728" y="0"/>
                </a:lnTo>
                <a:lnTo>
                  <a:pt x="427456" y="284848"/>
                </a:lnTo>
                <a:lnTo>
                  <a:pt x="625094" y="284848"/>
                </a:lnTo>
                <a:close/>
              </a:path>
            </a:pathLst>
          </a:custGeom>
          <a:solidFill>
            <a:srgbClr val="E3859C"/>
          </a:solidFill>
        </p:spPr>
        <p:txBody>
          <a:bodyPr wrap="square" lIns="0" tIns="0" rIns="0" bIns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3306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0E7FA-741B-83A8-122A-45C359AB7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BCAFCC42-BB83-235F-B993-2B7A5A311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0" y="1"/>
            <a:ext cx="18287998" cy="10286999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5AF4F74D-F2F3-62D6-FB5B-949977CD5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3279" y="4771949"/>
            <a:ext cx="5064629" cy="5514848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4158A317-C327-7CE2-E466-7B24E46C630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-90" y="0"/>
            <a:ext cx="8798427" cy="6115747"/>
          </a:xfrm>
          <a:prstGeom prst="rect">
            <a:avLst/>
          </a:prstGeom>
        </p:spPr>
      </p:pic>
      <p:sp>
        <p:nvSpPr>
          <p:cNvPr id="15" name="TextBox 2">
            <a:extLst>
              <a:ext uri="{FF2B5EF4-FFF2-40B4-BE49-F238E27FC236}">
                <a16:creationId xmlns:a16="http://schemas.microsoft.com/office/drawing/2014/main" id="{407AE8E7-0544-E9DF-760F-1DFA53F7F3B4}"/>
              </a:ext>
            </a:extLst>
          </p:cNvPr>
          <p:cNvSpPr txBox="1"/>
          <p:nvPr/>
        </p:nvSpPr>
        <p:spPr>
          <a:xfrm>
            <a:off x="206271" y="180753"/>
            <a:ext cx="8150919" cy="33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dirty="0">
                <a:solidFill>
                  <a:schemeClr val="bg1"/>
                </a:solidFill>
                <a:latin typeface="Microsoft YaHei"/>
                <a:ea typeface="Microsoft YaHei"/>
              </a:rPr>
              <a:t>01</a:t>
            </a:r>
            <a:r>
              <a:rPr lang="zh-CN" altLang="en-US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 研究背景</a:t>
            </a:r>
            <a:endParaRPr sz="2200" b="1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42BA69F-BE7D-4566-7E1D-22C34079A5BB}"/>
              </a:ext>
            </a:extLst>
          </p:cNvPr>
          <p:cNvSpPr txBox="1"/>
          <p:nvPr/>
        </p:nvSpPr>
        <p:spPr>
          <a:xfrm>
            <a:off x="1277565" y="1545266"/>
            <a:ext cx="16424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u"/>
            </a:pPr>
            <a:r>
              <a:rPr kumimoji="1" lang="zh-CN" altLang="en-US" sz="3600" b="1" dirty="0">
                <a:solidFill>
                  <a:srgbClr val="E2869C"/>
                </a:solidFill>
                <a:latin typeface="+mn-ea"/>
              </a:rPr>
              <a:t>理论背景</a:t>
            </a:r>
            <a:endParaRPr kumimoji="1" lang="en-US" altLang="zh-CN" sz="3600" b="1" dirty="0">
              <a:solidFill>
                <a:srgbClr val="E2869C"/>
              </a:solidFill>
              <a:latin typeface="+mn-ea"/>
            </a:endParaRPr>
          </a:p>
          <a:p>
            <a:endParaRPr kumimoji="1" lang="en-US" altLang="zh-CN" sz="2800" dirty="0">
              <a:solidFill>
                <a:schemeClr val="bg1"/>
              </a:solidFill>
              <a:latin typeface="+mn-ea"/>
            </a:endParaRPr>
          </a:p>
          <a:p>
            <a:r>
              <a:rPr kumimoji="1" lang="zh-CN" altLang="en-US" sz="3200" dirty="0">
                <a:solidFill>
                  <a:schemeClr val="bg1"/>
                </a:solidFill>
                <a:latin typeface="+mn-ea"/>
              </a:rPr>
              <a:t>认知努力的成本</a:t>
            </a:r>
            <a:r>
              <a:rPr kumimoji="1" lang="en-US" altLang="zh-CN" sz="3200" dirty="0">
                <a:solidFill>
                  <a:schemeClr val="bg1"/>
                </a:solidFill>
                <a:latin typeface="+mn-ea"/>
              </a:rPr>
              <a:t>—</a:t>
            </a:r>
            <a:r>
              <a:rPr kumimoji="1" lang="zh-CN" altLang="en-US" sz="3200" dirty="0">
                <a:solidFill>
                  <a:schemeClr val="bg1"/>
                </a:solidFill>
                <a:latin typeface="+mn-ea"/>
              </a:rPr>
              <a:t>收益模型：</a:t>
            </a:r>
            <a:r>
              <a:rPr lang="zh-CN" altLang="zh-CN" sz="3200" dirty="0">
                <a:solidFill>
                  <a:schemeClr val="bg1"/>
                </a:solidFill>
                <a:latin typeface="+mn-ea"/>
              </a:rPr>
              <a:t>认知加工本身是资源有限的，所以个体是否投入认知努力，部分取决于投入努力带来的收益是否足以抵消努力成本。</a:t>
            </a:r>
            <a:endParaRPr lang="en-US" altLang="zh-CN" sz="3200" dirty="0">
              <a:solidFill>
                <a:schemeClr val="bg1"/>
              </a:solidFill>
              <a:latin typeface="+mn-ea"/>
            </a:endParaRPr>
          </a:p>
          <a:p>
            <a:endParaRPr kumimoji="1" lang="en-US" altLang="zh-CN" sz="3200" dirty="0">
              <a:solidFill>
                <a:schemeClr val="bg1"/>
              </a:solidFill>
            </a:endParaRPr>
          </a:p>
          <a:p>
            <a:endParaRPr kumimoji="1"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23" name="下箭头 22">
            <a:extLst>
              <a:ext uri="{FF2B5EF4-FFF2-40B4-BE49-F238E27FC236}">
                <a16:creationId xmlns:a16="http://schemas.microsoft.com/office/drawing/2014/main" id="{01AA79F5-670A-8657-F057-78D77828C938}"/>
              </a:ext>
            </a:extLst>
          </p:cNvPr>
          <p:cNvSpPr/>
          <p:nvPr/>
        </p:nvSpPr>
        <p:spPr>
          <a:xfrm>
            <a:off x="7618713" y="3918266"/>
            <a:ext cx="1624820" cy="2219253"/>
          </a:xfrm>
          <a:prstGeom prst="downArrow">
            <a:avLst/>
          </a:prstGeom>
          <a:solidFill>
            <a:srgbClr val="944B6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765D520-B027-F347-DFB0-BA8A43D44D39}"/>
              </a:ext>
            </a:extLst>
          </p:cNvPr>
          <p:cNvSpPr txBox="1"/>
          <p:nvPr/>
        </p:nvSpPr>
        <p:spPr>
          <a:xfrm>
            <a:off x="1476910" y="6115747"/>
            <a:ext cx="16424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u"/>
            </a:pPr>
            <a:r>
              <a:rPr kumimoji="1" lang="zh-CN" altLang="en-US" sz="3600" b="1" dirty="0">
                <a:solidFill>
                  <a:srgbClr val="E2869C"/>
                </a:solidFill>
                <a:latin typeface="+mn-ea"/>
              </a:rPr>
              <a:t>研究目的</a:t>
            </a:r>
            <a:endParaRPr kumimoji="1" lang="en-US" altLang="zh-CN" sz="3600" b="1" dirty="0">
              <a:solidFill>
                <a:srgbClr val="E2869C"/>
              </a:solidFill>
              <a:latin typeface="+mn-ea"/>
            </a:endParaRPr>
          </a:p>
          <a:p>
            <a:endParaRPr kumimoji="1" lang="en-US" altLang="zh-CN" sz="2800" dirty="0">
              <a:solidFill>
                <a:schemeClr val="bg1"/>
              </a:solidFill>
            </a:endParaRPr>
          </a:p>
          <a:p>
            <a:r>
              <a:rPr lang="en-US" altLang="zh-CN" sz="3200" dirty="0">
                <a:solidFill>
                  <a:schemeClr val="bg1"/>
                </a:solidFill>
              </a:rPr>
              <a:t>1.</a:t>
            </a:r>
            <a:r>
              <a:rPr lang="zh-CN" altLang="zh-CN" sz="3200" dirty="0">
                <a:solidFill>
                  <a:schemeClr val="bg1"/>
                </a:solidFill>
              </a:rPr>
              <a:t>执行功能能力低的人，是否更容易被奖励调动认知努力？</a:t>
            </a:r>
            <a:endParaRPr lang="en-US" altLang="zh-CN" sz="3200" dirty="0">
              <a:solidFill>
                <a:schemeClr val="bg1"/>
              </a:solidFill>
            </a:endParaRPr>
          </a:p>
          <a:p>
            <a:endParaRPr kumimoji="1" lang="en-US" altLang="zh-CN" sz="3200" dirty="0">
              <a:solidFill>
                <a:schemeClr val="bg1"/>
              </a:solidFill>
            </a:endParaRPr>
          </a:p>
          <a:p>
            <a:r>
              <a:rPr lang="en-US" altLang="zh-CN" sz="3200" dirty="0">
                <a:solidFill>
                  <a:schemeClr val="bg1"/>
                </a:solidFill>
              </a:rPr>
              <a:t>2.</a:t>
            </a:r>
            <a:r>
              <a:rPr lang="zh-CN" altLang="zh-CN" sz="3200" dirty="0">
                <a:solidFill>
                  <a:schemeClr val="bg1"/>
                </a:solidFill>
              </a:rPr>
              <a:t>认知需求低的人，是否更容易被奖励调动认知努力？</a:t>
            </a:r>
            <a:endParaRPr kumimoji="1" lang="en-US" altLang="zh-CN" sz="3200" dirty="0">
              <a:solidFill>
                <a:schemeClr val="bg1"/>
              </a:solidFill>
            </a:endParaRPr>
          </a:p>
          <a:p>
            <a:endParaRPr kumimoji="1" lang="zh-CN" alt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60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2" name="object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475747" cy="4914630"/>
          </a:xfrm>
          <a:prstGeom prst="rect">
            <a:avLst/>
          </a:prstGeom>
        </p:spPr>
      </p:pic>
      <p:pic>
        <p:nvPicPr>
          <p:cNvPr id="13" name="object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9320" y="5921422"/>
            <a:ext cx="6348679" cy="4365577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50AEC549-988A-7D9D-6070-2ADE136DE2C6}"/>
              </a:ext>
            </a:extLst>
          </p:cNvPr>
          <p:cNvSpPr txBox="1"/>
          <p:nvPr/>
        </p:nvSpPr>
        <p:spPr>
          <a:xfrm>
            <a:off x="206271" y="180753"/>
            <a:ext cx="8150919" cy="33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dirty="0">
                <a:solidFill>
                  <a:schemeClr val="bg1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2</a:t>
            </a:r>
            <a:r>
              <a:rPr lang="zh-CN" altLang="en-US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 实验设计</a:t>
            </a:r>
            <a:endParaRPr sz="2200" b="1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2BFABAFE-BDEE-55CF-1C38-E1590858320A}"/>
              </a:ext>
            </a:extLst>
          </p:cNvPr>
          <p:cNvSpPr txBox="1"/>
          <p:nvPr/>
        </p:nvSpPr>
        <p:spPr>
          <a:xfrm>
            <a:off x="5459296" y="1800754"/>
            <a:ext cx="9654363" cy="421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lang="zh-CN" altLang="en-US" sz="2800" dirty="0">
                <a:solidFill>
                  <a:srgbClr val="E2869C"/>
                </a:solidFill>
                <a:latin typeface="Microsoft YaHei"/>
                <a:ea typeface="Microsoft YaHei"/>
              </a:rPr>
              <a:t>被试内</a:t>
            </a:r>
            <a:r>
              <a:rPr sz="2800" dirty="0">
                <a:solidFill>
                  <a:srgbClr val="E2869C"/>
                </a:solidFill>
                <a:latin typeface="Microsoft YaHei"/>
                <a:ea typeface="Microsoft YaHei"/>
              </a:rPr>
              <a:t>实验，54 </a:t>
            </a:r>
            <a:r>
              <a:rPr sz="2800" dirty="0" err="1">
                <a:solidFill>
                  <a:srgbClr val="E2869C"/>
                </a:solidFill>
                <a:latin typeface="Microsoft YaHei"/>
                <a:ea typeface="Microsoft YaHei"/>
              </a:rPr>
              <a:t>名被试，依次完成三部分任务</a:t>
            </a:r>
            <a:endParaRPr sz="2800" dirty="0">
              <a:solidFill>
                <a:srgbClr val="E2869C"/>
              </a:solidFill>
              <a:latin typeface="Microsoft YaHei"/>
              <a:ea typeface="Microsoft YaHei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6C94050-A495-EF31-0B0D-69737096D7E0}"/>
              </a:ext>
            </a:extLst>
          </p:cNvPr>
          <p:cNvGrpSpPr/>
          <p:nvPr/>
        </p:nvGrpSpPr>
        <p:grpSpPr>
          <a:xfrm>
            <a:off x="915465" y="2811779"/>
            <a:ext cx="5184648" cy="4114800"/>
            <a:chOff x="1234440" y="2811779"/>
            <a:chExt cx="5184648" cy="4114800"/>
          </a:xfrm>
        </p:grpSpPr>
        <p:sp>
          <p:nvSpPr>
            <p:cNvPr id="15" name="Rounded Rectangle 4">
              <a:extLst>
                <a:ext uri="{FF2B5EF4-FFF2-40B4-BE49-F238E27FC236}">
                  <a16:creationId xmlns:a16="http://schemas.microsoft.com/office/drawing/2014/main" id="{20B8A1AE-FAB2-5FC2-6EED-04B5450832AE}"/>
                </a:ext>
              </a:extLst>
            </p:cNvPr>
            <p:cNvSpPr/>
            <p:nvPr/>
          </p:nvSpPr>
          <p:spPr>
            <a:xfrm>
              <a:off x="1234440" y="2811779"/>
              <a:ext cx="5184648" cy="4114800"/>
            </a:xfrm>
            <a:prstGeom prst="roundRect">
              <a:avLst/>
            </a:prstGeom>
            <a:solidFill>
              <a:srgbClr val="361228"/>
            </a:solidFill>
            <a:ln w="12700">
              <a:solidFill>
                <a:srgbClr val="7A2A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9A3C63FB-68A2-A0D4-5084-7055891D8AC0}"/>
                </a:ext>
              </a:extLst>
            </p:cNvPr>
            <p:cNvSpPr/>
            <p:nvPr/>
          </p:nvSpPr>
          <p:spPr>
            <a:xfrm>
              <a:off x="1234440" y="2811779"/>
              <a:ext cx="5184648" cy="850392"/>
            </a:xfrm>
            <a:prstGeom prst="rect">
              <a:avLst/>
            </a:prstGeom>
            <a:solidFill>
              <a:srgbClr val="E286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27432" rIns="109728" bIns="27432" rtlCol="0" anchor="ctr"/>
            <a:lstStyle/>
            <a:p>
              <a:pPr algn="ctr"/>
              <a:r>
                <a:rPr sz="2400" b="1" dirty="0">
                  <a:solidFill>
                    <a:srgbClr val="FFFFFF"/>
                  </a:solidFill>
                  <a:latin typeface="Microsoft YaHei"/>
                  <a:ea typeface="Microsoft YaHei"/>
                </a:rPr>
                <a:t>Stroop </a:t>
              </a:r>
              <a:r>
                <a:rPr sz="2400" b="1" dirty="0" err="1">
                  <a:solidFill>
                    <a:srgbClr val="FFFFFF"/>
                  </a:solidFill>
                  <a:latin typeface="Microsoft YaHei"/>
                  <a:ea typeface="Microsoft YaHei"/>
                </a:rPr>
                <a:t>任务</a:t>
              </a:r>
              <a:endParaRPr sz="2400" b="1" dirty="0">
                <a:solidFill>
                  <a:srgbClr val="FFFFFF"/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17" name="TextBox 6">
              <a:extLst>
                <a:ext uri="{FF2B5EF4-FFF2-40B4-BE49-F238E27FC236}">
                  <a16:creationId xmlns:a16="http://schemas.microsoft.com/office/drawing/2014/main" id="{4E0BCDC8-F5D0-CAE8-079F-43A8260058A6}"/>
                </a:ext>
              </a:extLst>
            </p:cNvPr>
            <p:cNvSpPr txBox="1"/>
            <p:nvPr/>
          </p:nvSpPr>
          <p:spPr>
            <a:xfrm>
              <a:off x="1618488" y="3977640"/>
              <a:ext cx="4416552" cy="222804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8000"/>
                </a:lnSpc>
                <a:spcAft>
                  <a:spcPts val="1050"/>
                </a:spcAft>
              </a:pPr>
              <a:r>
                <a:rPr sz="2100" b="1" dirty="0" err="1">
                  <a:solidFill>
                    <a:srgbClr val="E2869C"/>
                  </a:solidFill>
                  <a:latin typeface="Microsoft YaHei"/>
                  <a:ea typeface="Microsoft YaHei"/>
                </a:rPr>
                <a:t>测量执行功能</a:t>
              </a:r>
              <a:r>
                <a:rPr sz="2100" b="1" dirty="0">
                  <a:solidFill>
                    <a:srgbClr val="E2869C"/>
                  </a:solidFill>
                  <a:latin typeface="Microsoft YaHei"/>
                  <a:ea typeface="Microsoft YaHei"/>
                </a:rPr>
                <a:t> (EF)</a:t>
              </a:r>
            </a:p>
            <a:p>
              <a:pPr>
                <a:lnSpc>
                  <a:spcPct val="118000"/>
                </a:lnSpc>
                <a:spcAft>
                  <a:spcPts val="1050"/>
                </a:spcAft>
              </a:pPr>
              <a:r>
                <a:rPr sz="2200" dirty="0">
                  <a:solidFill>
                    <a:schemeClr val="bg1"/>
                  </a:solidFill>
                  <a:latin typeface="+mn-ea"/>
                </a:rPr>
                <a:t>120 试次（30 </a:t>
              </a:r>
              <a:r>
                <a:rPr sz="2200" dirty="0" err="1">
                  <a:solidFill>
                    <a:schemeClr val="bg1"/>
                  </a:solidFill>
                  <a:latin typeface="+mn-ea"/>
                </a:rPr>
                <a:t>不一致</a:t>
              </a:r>
              <a:r>
                <a:rPr sz="2200" dirty="0">
                  <a:solidFill>
                    <a:schemeClr val="bg1"/>
                  </a:solidFill>
                  <a:latin typeface="+mn-ea"/>
                </a:rPr>
                <a:t> / 90 </a:t>
              </a:r>
              <a:r>
                <a:rPr sz="2200" dirty="0" err="1">
                  <a:solidFill>
                    <a:schemeClr val="bg1"/>
                  </a:solidFill>
                  <a:latin typeface="+mn-ea"/>
                </a:rPr>
                <a:t>一致</a:t>
              </a:r>
              <a:r>
                <a:rPr sz="2200" dirty="0">
                  <a:solidFill>
                    <a:schemeClr val="bg1"/>
                  </a:solidFill>
                  <a:latin typeface="+mn-ea"/>
                </a:rPr>
                <a:t>）。</a:t>
              </a:r>
            </a:p>
            <a:p>
              <a:pPr>
                <a:lnSpc>
                  <a:spcPct val="118000"/>
                </a:lnSpc>
                <a:spcAft>
                  <a:spcPts val="1050"/>
                </a:spcAft>
              </a:pPr>
              <a:r>
                <a:rPr sz="2200" dirty="0">
                  <a:solidFill>
                    <a:schemeClr val="bg1"/>
                  </a:solidFill>
                  <a:latin typeface="+mn-ea"/>
                </a:rPr>
                <a:t>EF </a:t>
              </a:r>
              <a:r>
                <a:rPr sz="2200" dirty="0" err="1">
                  <a:solidFill>
                    <a:schemeClr val="bg1"/>
                  </a:solidFill>
                  <a:latin typeface="+mn-ea"/>
                </a:rPr>
                <a:t>指标</a:t>
              </a:r>
              <a:r>
                <a:rPr sz="2200" dirty="0">
                  <a:solidFill>
                    <a:schemeClr val="bg1"/>
                  </a:solidFill>
                  <a:latin typeface="+mn-ea"/>
                </a:rPr>
                <a:t> = </a:t>
              </a:r>
              <a:r>
                <a:rPr sz="2200" dirty="0" err="1">
                  <a:solidFill>
                    <a:schemeClr val="bg1"/>
                  </a:solidFill>
                  <a:latin typeface="+mn-ea"/>
                </a:rPr>
                <a:t>不一致与一致条件标准化</a:t>
              </a:r>
              <a:r>
                <a:rPr sz="2200" dirty="0">
                  <a:solidFill>
                    <a:schemeClr val="bg1"/>
                  </a:solidFill>
                  <a:latin typeface="+mn-ea"/>
                </a:rPr>
                <a:t> RT </a:t>
              </a:r>
              <a:r>
                <a:rPr sz="2200" dirty="0" err="1">
                  <a:solidFill>
                    <a:schemeClr val="bg1"/>
                  </a:solidFill>
                  <a:latin typeface="+mn-ea"/>
                </a:rPr>
                <a:t>之差（Stroop</a:t>
              </a:r>
              <a:r>
                <a:rPr sz="2200" dirty="0">
                  <a:solidFill>
                    <a:schemeClr val="bg1"/>
                  </a:solidFill>
                  <a:latin typeface="+mn-ea"/>
                </a:rPr>
                <a:t> RT cost），</a:t>
              </a:r>
              <a:r>
                <a:rPr sz="2200" dirty="0" err="1">
                  <a:solidFill>
                    <a:schemeClr val="bg1"/>
                  </a:solidFill>
                  <a:latin typeface="+mn-ea"/>
                </a:rPr>
                <a:t>值越大</a:t>
              </a:r>
              <a:r>
                <a:rPr sz="2200" dirty="0">
                  <a:solidFill>
                    <a:schemeClr val="bg1"/>
                  </a:solidFill>
                  <a:latin typeface="+mn-ea"/>
                </a:rPr>
                <a:t> EF </a:t>
              </a:r>
              <a:r>
                <a:rPr sz="2200" dirty="0" err="1">
                  <a:solidFill>
                    <a:schemeClr val="bg1"/>
                  </a:solidFill>
                  <a:latin typeface="+mn-ea"/>
                </a:rPr>
                <a:t>越低</a:t>
              </a:r>
              <a:r>
                <a:rPr sz="2200" dirty="0">
                  <a:solidFill>
                    <a:schemeClr val="bg1"/>
                  </a:solidFill>
                  <a:latin typeface="+mn-ea"/>
                </a:rPr>
                <a:t>。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ACB5309B-3DFE-61C2-5565-07A9981958B4}"/>
              </a:ext>
            </a:extLst>
          </p:cNvPr>
          <p:cNvGrpSpPr/>
          <p:nvPr/>
        </p:nvGrpSpPr>
        <p:grpSpPr>
          <a:xfrm>
            <a:off x="6705103" y="2811779"/>
            <a:ext cx="5184648" cy="4114800"/>
            <a:chOff x="6705103" y="2811779"/>
            <a:chExt cx="5184648" cy="4114800"/>
          </a:xfrm>
        </p:grpSpPr>
        <p:sp>
          <p:nvSpPr>
            <p:cNvPr id="18" name="Rounded Rectangle 7">
              <a:extLst>
                <a:ext uri="{FF2B5EF4-FFF2-40B4-BE49-F238E27FC236}">
                  <a16:creationId xmlns:a16="http://schemas.microsoft.com/office/drawing/2014/main" id="{CA298C30-1266-518E-3947-4CF70719ADA9}"/>
                </a:ext>
              </a:extLst>
            </p:cNvPr>
            <p:cNvSpPr/>
            <p:nvPr/>
          </p:nvSpPr>
          <p:spPr>
            <a:xfrm>
              <a:off x="6705103" y="2811779"/>
              <a:ext cx="5184648" cy="4114800"/>
            </a:xfrm>
            <a:prstGeom prst="roundRect">
              <a:avLst/>
            </a:prstGeom>
            <a:solidFill>
              <a:srgbClr val="361228"/>
            </a:solidFill>
            <a:ln w="12700">
              <a:solidFill>
                <a:srgbClr val="7A2A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 dirty="0"/>
            </a:p>
          </p:txBody>
        </p:sp>
        <p:sp>
          <p:nvSpPr>
            <p:cNvPr id="19" name="Rectangle 8">
              <a:extLst>
                <a:ext uri="{FF2B5EF4-FFF2-40B4-BE49-F238E27FC236}">
                  <a16:creationId xmlns:a16="http://schemas.microsoft.com/office/drawing/2014/main" id="{309F9103-8EEF-88AE-61C6-2630F0FF99BC}"/>
                </a:ext>
              </a:extLst>
            </p:cNvPr>
            <p:cNvSpPr/>
            <p:nvPr/>
          </p:nvSpPr>
          <p:spPr>
            <a:xfrm>
              <a:off x="6705103" y="2811779"/>
              <a:ext cx="5184648" cy="850392"/>
            </a:xfrm>
            <a:prstGeom prst="rect">
              <a:avLst/>
            </a:prstGeom>
            <a:solidFill>
              <a:srgbClr val="E286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27432" rIns="109728" bIns="27432" rtlCol="0" anchor="ctr"/>
            <a:lstStyle/>
            <a:p>
              <a:pPr algn="ctr"/>
              <a:r>
                <a:rPr lang="en-US" altLang="zh-CN" sz="2400" b="1" dirty="0" err="1">
                  <a:solidFill>
                    <a:srgbClr val="FFFFFF"/>
                  </a:solidFill>
                  <a:latin typeface="Microsoft YaHei"/>
                  <a:ea typeface="Microsoft YaHei"/>
                </a:rPr>
                <a:t>Task_switching</a:t>
              </a:r>
              <a:endParaRPr sz="2400" b="1" dirty="0">
                <a:solidFill>
                  <a:srgbClr val="FFFFFF"/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20" name="TextBox 9">
              <a:extLst>
                <a:ext uri="{FF2B5EF4-FFF2-40B4-BE49-F238E27FC236}">
                  <a16:creationId xmlns:a16="http://schemas.microsoft.com/office/drawing/2014/main" id="{0568A78F-2CA0-1694-E155-98238550CC27}"/>
                </a:ext>
              </a:extLst>
            </p:cNvPr>
            <p:cNvSpPr txBox="1"/>
            <p:nvPr/>
          </p:nvSpPr>
          <p:spPr>
            <a:xfrm>
              <a:off x="7089151" y="3977640"/>
              <a:ext cx="4416552" cy="21042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8000"/>
                </a:lnSpc>
                <a:spcAft>
                  <a:spcPts val="1050"/>
                </a:spcAft>
              </a:pPr>
              <a:r>
                <a:rPr sz="2100" b="1" dirty="0" err="1">
                  <a:solidFill>
                    <a:srgbClr val="E2869C"/>
                  </a:solidFill>
                  <a:latin typeface="Microsoft YaHei"/>
                  <a:ea typeface="Microsoft YaHei"/>
                </a:rPr>
                <a:t>测量奖赏诱发的认知努力</a:t>
              </a:r>
              <a:endParaRPr sz="2100" b="1" dirty="0">
                <a:solidFill>
                  <a:srgbClr val="E2869C"/>
                </a:solidFill>
                <a:latin typeface="Microsoft YaHei"/>
                <a:ea typeface="Microsoft YaHei"/>
              </a:endParaRPr>
            </a:p>
            <a:p>
              <a:pPr>
                <a:lnSpc>
                  <a:spcPct val="118000"/>
                </a:lnSpc>
                <a:spcAft>
                  <a:spcPts val="1050"/>
                </a:spcAft>
              </a:pPr>
              <a:r>
                <a:rPr sz="2025" dirty="0" err="1">
                  <a:solidFill>
                    <a:srgbClr val="F0D6E2"/>
                  </a:solidFill>
                  <a:latin typeface="Microsoft YaHei"/>
                  <a:ea typeface="Microsoft YaHei"/>
                </a:rPr>
                <a:t>高</a:t>
              </a:r>
              <a:r>
                <a:rPr sz="2025" dirty="0">
                  <a:solidFill>
                    <a:srgbClr val="F0D6E2"/>
                  </a:solidFill>
                  <a:latin typeface="Microsoft YaHei"/>
                  <a:ea typeface="Microsoft YaHei"/>
                </a:rPr>
                <a:t>/</a:t>
              </a:r>
              <a:r>
                <a:rPr sz="2025" dirty="0" err="1">
                  <a:solidFill>
                    <a:srgbClr val="F0D6E2"/>
                  </a:solidFill>
                  <a:latin typeface="Microsoft YaHei"/>
                  <a:ea typeface="Microsoft YaHei"/>
                </a:rPr>
                <a:t>低奖赏两个</a:t>
              </a:r>
              <a:r>
                <a:rPr sz="2025" dirty="0">
                  <a:solidFill>
                    <a:srgbClr val="F0D6E2"/>
                  </a:solidFill>
                  <a:latin typeface="Microsoft YaHei"/>
                  <a:ea typeface="Microsoft YaHei"/>
                </a:rPr>
                <a:t> </a:t>
              </a:r>
              <a:r>
                <a:rPr sz="2025" dirty="0" err="1">
                  <a:solidFill>
                    <a:srgbClr val="F0D6E2"/>
                  </a:solidFill>
                  <a:latin typeface="Microsoft YaHei"/>
                  <a:ea typeface="Microsoft YaHei"/>
                </a:rPr>
                <a:t>block，各</a:t>
              </a:r>
              <a:r>
                <a:rPr sz="2025" dirty="0">
                  <a:solidFill>
                    <a:srgbClr val="F0D6E2"/>
                  </a:solidFill>
                  <a:latin typeface="Microsoft YaHei"/>
                  <a:ea typeface="Microsoft YaHei"/>
                </a:rPr>
                <a:t> 140 试次；奖赏（5¢ vs 1¢）</a:t>
              </a:r>
              <a:r>
                <a:rPr sz="2025" dirty="0" err="1">
                  <a:solidFill>
                    <a:srgbClr val="F0D6E2"/>
                  </a:solidFill>
                  <a:latin typeface="Microsoft YaHei"/>
                  <a:ea typeface="Microsoft YaHei"/>
                </a:rPr>
                <a:t>为被试内操纵</a:t>
              </a:r>
              <a:r>
                <a:rPr sz="2025" dirty="0">
                  <a:solidFill>
                    <a:srgbClr val="F0D6E2"/>
                  </a:solidFill>
                  <a:latin typeface="Microsoft YaHei"/>
                  <a:ea typeface="Microsoft YaHei"/>
                </a:rPr>
                <a:t>。</a:t>
              </a:r>
            </a:p>
            <a:p>
              <a:pPr>
                <a:lnSpc>
                  <a:spcPct val="118000"/>
                </a:lnSpc>
                <a:spcAft>
                  <a:spcPts val="1050"/>
                </a:spcAft>
              </a:pPr>
              <a:r>
                <a:rPr sz="2025" dirty="0" err="1">
                  <a:solidFill>
                    <a:srgbClr val="F0D6E2"/>
                  </a:solidFill>
                  <a:latin typeface="Microsoft YaHei"/>
                  <a:ea typeface="Microsoft YaHei"/>
                </a:rPr>
                <a:t>指标</a:t>
              </a:r>
              <a:r>
                <a:rPr sz="2025" dirty="0">
                  <a:solidFill>
                    <a:srgbClr val="F0D6E2"/>
                  </a:solidFill>
                  <a:latin typeface="Microsoft YaHei"/>
                  <a:ea typeface="Microsoft YaHei"/>
                </a:rPr>
                <a:t> = </a:t>
              </a:r>
              <a:r>
                <a:rPr sz="2025" dirty="0" err="1">
                  <a:solidFill>
                    <a:srgbClr val="F0D6E2"/>
                  </a:solidFill>
                  <a:latin typeface="Microsoft YaHei"/>
                  <a:ea typeface="Microsoft YaHei"/>
                </a:rPr>
                <a:t>切换−重复的反应时切换代价</a:t>
              </a:r>
              <a:r>
                <a:rPr sz="2025" dirty="0">
                  <a:solidFill>
                    <a:srgbClr val="F0D6E2"/>
                  </a:solidFill>
                  <a:latin typeface="Microsoft YaHei"/>
                  <a:ea typeface="Microsoft YaHei"/>
                </a:rPr>
                <a:t> (switch cost)。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09E8E91-C2E8-3985-D975-5C56BFACA1CD}"/>
              </a:ext>
            </a:extLst>
          </p:cNvPr>
          <p:cNvGrpSpPr/>
          <p:nvPr/>
        </p:nvGrpSpPr>
        <p:grpSpPr>
          <a:xfrm>
            <a:off x="12558536" y="2811779"/>
            <a:ext cx="5184648" cy="4114800"/>
            <a:chOff x="12388416" y="2811779"/>
            <a:chExt cx="5184648" cy="4114800"/>
          </a:xfrm>
        </p:grpSpPr>
        <p:sp>
          <p:nvSpPr>
            <p:cNvPr id="21" name="Rounded Rectangle 10">
              <a:extLst>
                <a:ext uri="{FF2B5EF4-FFF2-40B4-BE49-F238E27FC236}">
                  <a16:creationId xmlns:a16="http://schemas.microsoft.com/office/drawing/2014/main" id="{A3DB778C-685C-0580-BCF1-55AF1C40FE33}"/>
                </a:ext>
              </a:extLst>
            </p:cNvPr>
            <p:cNvSpPr/>
            <p:nvPr/>
          </p:nvSpPr>
          <p:spPr>
            <a:xfrm>
              <a:off x="12388416" y="2811779"/>
              <a:ext cx="5184648" cy="4114800"/>
            </a:xfrm>
            <a:prstGeom prst="roundRect">
              <a:avLst/>
            </a:prstGeom>
            <a:solidFill>
              <a:srgbClr val="361228"/>
            </a:solidFill>
            <a:ln w="12700">
              <a:solidFill>
                <a:srgbClr val="7A2A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22" name="Rectangle 11">
              <a:extLst>
                <a:ext uri="{FF2B5EF4-FFF2-40B4-BE49-F238E27FC236}">
                  <a16:creationId xmlns:a16="http://schemas.microsoft.com/office/drawing/2014/main" id="{0B9DB7A1-AC51-5E96-8CAB-315893DD361E}"/>
                </a:ext>
              </a:extLst>
            </p:cNvPr>
            <p:cNvSpPr/>
            <p:nvPr/>
          </p:nvSpPr>
          <p:spPr>
            <a:xfrm>
              <a:off x="12388416" y="2811779"/>
              <a:ext cx="5184648" cy="850392"/>
            </a:xfrm>
            <a:prstGeom prst="rect">
              <a:avLst/>
            </a:prstGeom>
            <a:solidFill>
              <a:srgbClr val="E286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27432" rIns="109728" bIns="27432" rtlCol="0" anchor="ctr"/>
            <a:lstStyle/>
            <a:p>
              <a:pPr algn="ctr"/>
              <a:r>
                <a:rPr lang="en-US" sz="2400" b="1" dirty="0" err="1">
                  <a:solidFill>
                    <a:srgbClr val="FFFFFF"/>
                  </a:solidFill>
                  <a:latin typeface="Microsoft YaHei"/>
                  <a:ea typeface="Microsoft YaHei"/>
                </a:rPr>
                <a:t>NFC</a:t>
              </a:r>
              <a:r>
                <a:rPr sz="2400" b="1" dirty="0" err="1">
                  <a:solidFill>
                    <a:srgbClr val="FFFFFF"/>
                  </a:solidFill>
                  <a:latin typeface="Microsoft YaHei"/>
                  <a:ea typeface="Microsoft YaHei"/>
                </a:rPr>
                <a:t>问卷量表</a:t>
              </a:r>
              <a:endParaRPr sz="2400" b="1" dirty="0">
                <a:solidFill>
                  <a:srgbClr val="FFFFFF"/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23" name="TextBox 12">
              <a:extLst>
                <a:ext uri="{FF2B5EF4-FFF2-40B4-BE49-F238E27FC236}">
                  <a16:creationId xmlns:a16="http://schemas.microsoft.com/office/drawing/2014/main" id="{D1E330C0-E239-7E4E-5FE8-4B1534B66EBE}"/>
                </a:ext>
              </a:extLst>
            </p:cNvPr>
            <p:cNvSpPr txBox="1"/>
            <p:nvPr/>
          </p:nvSpPr>
          <p:spPr>
            <a:xfrm>
              <a:off x="12772464" y="3977641"/>
              <a:ext cx="4416552" cy="173650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8000"/>
                </a:lnSpc>
                <a:spcAft>
                  <a:spcPts val="1050"/>
                </a:spcAft>
              </a:pPr>
              <a:r>
                <a:rPr sz="2100" b="1" dirty="0" err="1">
                  <a:solidFill>
                    <a:srgbClr val="E2869C"/>
                  </a:solidFill>
                  <a:latin typeface="Microsoft YaHei"/>
                  <a:ea typeface="Microsoft YaHei"/>
                </a:rPr>
                <a:t>测量个体差异</a:t>
              </a:r>
              <a:endParaRPr sz="2100" b="1" dirty="0">
                <a:solidFill>
                  <a:srgbClr val="E2869C"/>
                </a:solidFill>
                <a:latin typeface="Microsoft YaHei"/>
                <a:ea typeface="Microsoft YaHei"/>
              </a:endParaRPr>
            </a:p>
            <a:p>
              <a:pPr>
                <a:lnSpc>
                  <a:spcPct val="118000"/>
                </a:lnSpc>
                <a:spcAft>
                  <a:spcPts val="1050"/>
                </a:spcAft>
              </a:pPr>
              <a:r>
                <a:rPr sz="2025" dirty="0" err="1">
                  <a:solidFill>
                    <a:srgbClr val="F0D6E2"/>
                  </a:solidFill>
                  <a:latin typeface="Microsoft YaHei"/>
                  <a:ea typeface="Microsoft YaHei"/>
                </a:rPr>
                <a:t>NFC（认知需求</a:t>
              </a:r>
              <a:r>
                <a:rPr sz="2025" dirty="0">
                  <a:solidFill>
                    <a:srgbClr val="F0D6E2"/>
                  </a:solidFill>
                  <a:latin typeface="Microsoft YaHei"/>
                  <a:ea typeface="Microsoft YaHei"/>
                </a:rPr>
                <a:t>）：</a:t>
              </a:r>
              <a:r>
                <a:rPr sz="2025" dirty="0" err="1">
                  <a:solidFill>
                    <a:srgbClr val="F0D6E2"/>
                  </a:solidFill>
                  <a:latin typeface="Microsoft YaHei"/>
                  <a:ea typeface="Microsoft YaHei"/>
                </a:rPr>
                <a:t>内在认知动机</a:t>
              </a:r>
              <a:r>
                <a:rPr sz="2025" dirty="0">
                  <a:solidFill>
                    <a:srgbClr val="F0D6E2"/>
                  </a:solidFill>
                  <a:latin typeface="Microsoft YaHei"/>
                  <a:ea typeface="Microsoft YaHei"/>
                </a:rPr>
                <a:t>。</a:t>
              </a:r>
            </a:p>
            <a:p>
              <a:pPr>
                <a:lnSpc>
                  <a:spcPct val="118000"/>
                </a:lnSpc>
                <a:spcAft>
                  <a:spcPts val="1050"/>
                </a:spcAft>
              </a:pPr>
              <a:r>
                <a:rPr sz="2025" dirty="0" err="1">
                  <a:solidFill>
                    <a:srgbClr val="F0D6E2"/>
                  </a:solidFill>
                  <a:latin typeface="Microsoft YaHei"/>
                  <a:ea typeface="Microsoft YaHei"/>
                </a:rPr>
                <a:t>BAS（行为激活</a:t>
              </a:r>
              <a:r>
                <a:rPr sz="2025" dirty="0">
                  <a:solidFill>
                    <a:srgbClr val="F0D6E2"/>
                  </a:solidFill>
                  <a:latin typeface="Microsoft YaHei"/>
                  <a:ea typeface="Microsoft YaHei"/>
                </a:rPr>
                <a:t>）：</a:t>
              </a:r>
              <a:r>
                <a:rPr sz="2025" dirty="0" err="1">
                  <a:solidFill>
                    <a:srgbClr val="F0D6E2"/>
                  </a:solidFill>
                  <a:latin typeface="Microsoft YaHei"/>
                  <a:ea typeface="Microsoft YaHei"/>
                </a:rPr>
                <a:t>奖赏敏感性，作为协变量控制</a:t>
              </a:r>
              <a:r>
                <a:rPr sz="2025" dirty="0">
                  <a:solidFill>
                    <a:srgbClr val="F0D6E2"/>
                  </a:solidFill>
                  <a:latin typeface="Microsoft YaHei"/>
                  <a:ea typeface="Microsoft YaHei"/>
                </a:rPr>
                <a:t>。</a:t>
              </a:r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AC7A0ED9-7A4B-096F-E8E9-E8DBE2A5B7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7758" y="1059439"/>
            <a:ext cx="13619040" cy="8891031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824FF4C2-95B6-E7F9-3F5A-D917741CB5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3381" y="1118426"/>
            <a:ext cx="13927465" cy="8687290"/>
          </a:xfrm>
          <a:prstGeom prst="rect">
            <a:avLst/>
          </a:prstGeom>
        </p:spPr>
      </p:pic>
      <p:grpSp>
        <p:nvGrpSpPr>
          <p:cNvPr id="34" name="组合 33">
            <a:extLst>
              <a:ext uri="{FF2B5EF4-FFF2-40B4-BE49-F238E27FC236}">
                <a16:creationId xmlns:a16="http://schemas.microsoft.com/office/drawing/2014/main" id="{BD2DDDBC-971B-AD75-6590-F0E103E29C73}"/>
              </a:ext>
            </a:extLst>
          </p:cNvPr>
          <p:cNvGrpSpPr/>
          <p:nvPr/>
        </p:nvGrpSpPr>
        <p:grpSpPr>
          <a:xfrm>
            <a:off x="915465" y="7825642"/>
            <a:ext cx="17738295" cy="2281923"/>
            <a:chOff x="755762" y="9483600"/>
            <a:chExt cx="16713212" cy="1800135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4A04017B-8D57-77D0-ED1B-DB805FE5D957}"/>
                </a:ext>
              </a:extLst>
            </p:cNvPr>
            <p:cNvGrpSpPr/>
            <p:nvPr/>
          </p:nvGrpSpPr>
          <p:grpSpPr>
            <a:xfrm>
              <a:off x="755762" y="9483600"/>
              <a:ext cx="16583477" cy="1800135"/>
              <a:chOff x="1123874" y="7613149"/>
              <a:chExt cx="16583477" cy="1800135"/>
            </a:xfrm>
          </p:grpSpPr>
          <p:sp>
            <p:nvSpPr>
              <p:cNvPr id="27" name="Rounded Rectangle 13">
                <a:extLst>
                  <a:ext uri="{FF2B5EF4-FFF2-40B4-BE49-F238E27FC236}">
                    <a16:creationId xmlns:a16="http://schemas.microsoft.com/office/drawing/2014/main" id="{1AF6FB63-1A69-2D91-F944-D59048FBD4E0}"/>
                  </a:ext>
                </a:extLst>
              </p:cNvPr>
              <p:cNvSpPr/>
              <p:nvPr/>
            </p:nvSpPr>
            <p:spPr>
              <a:xfrm>
                <a:off x="1123874" y="7613149"/>
                <a:ext cx="16235261" cy="1800135"/>
              </a:xfrm>
              <a:prstGeom prst="roundRect">
                <a:avLst/>
              </a:prstGeom>
              <a:solidFill>
                <a:srgbClr val="2A0E1E"/>
              </a:solidFill>
              <a:ln w="15875">
                <a:solidFill>
                  <a:srgbClr val="EA7C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700"/>
              </a:p>
            </p:txBody>
          </p:sp>
          <p:sp>
            <p:nvSpPr>
              <p:cNvPr id="28" name="TextBox 14">
                <a:extLst>
                  <a:ext uri="{FF2B5EF4-FFF2-40B4-BE49-F238E27FC236}">
                    <a16:creationId xmlns:a16="http://schemas.microsoft.com/office/drawing/2014/main" id="{FD39B166-F37E-CC31-B7C0-B908BC7452DA}"/>
                  </a:ext>
                </a:extLst>
              </p:cNvPr>
              <p:cNvSpPr txBox="1"/>
              <p:nvPr/>
            </p:nvSpPr>
            <p:spPr>
              <a:xfrm>
                <a:off x="1535354" y="7887469"/>
                <a:ext cx="16171997" cy="90499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sz="2400" b="1" dirty="0" err="1">
                    <a:solidFill>
                      <a:srgbClr val="EA7CA8"/>
                    </a:solidFill>
                    <a:latin typeface="+mn-ea"/>
                  </a:rPr>
                  <a:t>核心假设</a:t>
                </a:r>
                <a:endParaRPr sz="2400" b="1" dirty="0">
                  <a:solidFill>
                    <a:srgbClr val="EA7CA8"/>
                  </a:solidFill>
                  <a:latin typeface="+mn-ea"/>
                </a:endParaRP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300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2300" dirty="0">
                    <a:solidFill>
                      <a:srgbClr val="FFFFFF"/>
                    </a:solidFill>
                    <a:latin typeface="+mn-ea"/>
                  </a:rPr>
                  <a:t>H1：执行功能越低（Stroop </a:t>
                </a:r>
                <a:r>
                  <a:rPr sz="2300" dirty="0" err="1">
                    <a:solidFill>
                      <a:srgbClr val="FFFFFF"/>
                    </a:solidFill>
                    <a:latin typeface="+mn-ea"/>
                  </a:rPr>
                  <a:t>干扰越强</a:t>
                </a:r>
                <a:r>
                  <a:rPr sz="2300" dirty="0">
                    <a:solidFill>
                      <a:srgbClr val="FFFFFF"/>
                    </a:solidFill>
                    <a:latin typeface="+mn-ea"/>
                  </a:rPr>
                  <a:t>），</a:t>
                </a:r>
                <a:r>
                  <a:rPr sz="2300" dirty="0" err="1">
                    <a:solidFill>
                      <a:srgbClr val="FFFFFF"/>
                    </a:solidFill>
                    <a:latin typeface="+mn-ea"/>
                  </a:rPr>
                  <a:t>奖赏越能降低切换代价</a:t>
                </a:r>
                <a:r>
                  <a:rPr lang="zh-CN" altLang="en-US" sz="2300" dirty="0">
                    <a:solidFill>
                      <a:srgbClr val="FFFFFF"/>
                    </a:solidFill>
                    <a:latin typeface="+mn-ea"/>
                  </a:rPr>
                  <a:t>。</a:t>
                </a:r>
                <a:endParaRPr lang="en-US" sz="2300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sp>
          <p:nvSpPr>
            <p:cNvPr id="32" name="TextBox 14">
              <a:extLst>
                <a:ext uri="{FF2B5EF4-FFF2-40B4-BE49-F238E27FC236}">
                  <a16:creationId xmlns:a16="http://schemas.microsoft.com/office/drawing/2014/main" id="{6B36C3FD-6BB2-BDE1-712D-A87F355CA8F0}"/>
                </a:ext>
              </a:extLst>
            </p:cNvPr>
            <p:cNvSpPr txBox="1"/>
            <p:nvPr/>
          </p:nvSpPr>
          <p:spPr>
            <a:xfrm>
              <a:off x="1296977" y="10832295"/>
              <a:ext cx="16171997" cy="3881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20000"/>
                </a:lnSpc>
                <a:spcAft>
                  <a:spcPts val="600"/>
                </a:spcAft>
              </a:pPr>
              <a:r>
                <a:rPr sz="2300" dirty="0">
                  <a:solidFill>
                    <a:srgbClr val="FFFFFF"/>
                  </a:solidFill>
                  <a:latin typeface="+mn-ea"/>
                </a:rPr>
                <a:t>H2：认知需求(NFC)</a:t>
              </a:r>
              <a:r>
                <a:rPr sz="2300" dirty="0" err="1">
                  <a:solidFill>
                    <a:srgbClr val="FFFFFF"/>
                  </a:solidFill>
                  <a:latin typeface="+mn-ea"/>
                </a:rPr>
                <a:t>越低，奖赏越能降低切换代价</a:t>
              </a:r>
              <a:r>
                <a:rPr sz="2300" dirty="0">
                  <a:solidFill>
                    <a:srgbClr val="FFFFFF"/>
                  </a:solidFill>
                  <a:latin typeface="+mn-ea"/>
                </a:rPr>
                <a:t>。</a:t>
              </a:r>
              <a:endParaRPr lang="en-US" sz="2300" dirty="0">
                <a:solidFill>
                  <a:srgbClr val="FFFFFF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6211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92"/>
            <a:ext cx="18287999" cy="10286999"/>
          </a:xfrm>
          <a:prstGeom prst="rect">
            <a:avLst/>
          </a:prstGeom>
        </p:spPr>
      </p:pic>
      <p:pic>
        <p:nvPicPr>
          <p:cNvPr id="10" name="object 3">
            <a:extLst>
              <a:ext uri="{FF2B5EF4-FFF2-40B4-BE49-F238E27FC236}">
                <a16:creationId xmlns:a16="http://schemas.microsoft.com/office/drawing/2014/main" id="{310596D3-7189-26BB-7D40-C696A5471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8120" y="6201918"/>
            <a:ext cx="3219878" cy="4084989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02AB6038-1A42-B97F-B9C5-E93B12D40E7E}"/>
              </a:ext>
            </a:extLst>
          </p:cNvPr>
          <p:cNvSpPr txBox="1"/>
          <p:nvPr/>
        </p:nvSpPr>
        <p:spPr>
          <a:xfrm>
            <a:off x="206271" y="180753"/>
            <a:ext cx="8150919" cy="33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dirty="0">
                <a:solidFill>
                  <a:schemeClr val="bg1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3</a:t>
            </a:r>
            <a:r>
              <a:rPr lang="zh-CN" altLang="en-US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 数据处理</a:t>
            </a:r>
            <a:endParaRPr sz="2200" b="1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D80DF5CB-8519-1E4A-E73A-8F4F44A67E6C}"/>
              </a:ext>
            </a:extLst>
          </p:cNvPr>
          <p:cNvSpPr txBox="1"/>
          <p:nvPr/>
        </p:nvSpPr>
        <p:spPr>
          <a:xfrm>
            <a:off x="626202" y="919957"/>
            <a:ext cx="15087600" cy="421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① </a:t>
            </a:r>
            <a:r>
              <a:rPr sz="2800" b="1" dirty="0" err="1">
                <a:solidFill>
                  <a:srgbClr val="E2869C"/>
                </a:solidFill>
                <a:latin typeface="Microsoft YaHei"/>
                <a:ea typeface="Microsoft YaHei"/>
              </a:rPr>
              <a:t>数据预处理</a:t>
            </a: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-------------NFC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&amp;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Stroop</a:t>
            </a:r>
            <a:endParaRPr sz="2800" b="1" dirty="0">
              <a:solidFill>
                <a:srgbClr val="E2869C"/>
              </a:solidFill>
              <a:latin typeface="Microsoft YaHei"/>
              <a:ea typeface="Microsoft YaHei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32073D1-53E9-E468-31A8-54CA70633169}"/>
              </a:ext>
            </a:extLst>
          </p:cNvPr>
          <p:cNvGrpSpPr/>
          <p:nvPr/>
        </p:nvGrpSpPr>
        <p:grpSpPr>
          <a:xfrm>
            <a:off x="380555" y="4278978"/>
            <a:ext cx="17526879" cy="5443041"/>
            <a:chOff x="380556" y="4367177"/>
            <a:chExt cx="17526879" cy="5443041"/>
          </a:xfrm>
        </p:grpSpPr>
        <p:sp>
          <p:nvSpPr>
            <p:cNvPr id="15" name="Rounded Rectangle 4">
              <a:extLst>
                <a:ext uri="{FF2B5EF4-FFF2-40B4-BE49-F238E27FC236}">
                  <a16:creationId xmlns:a16="http://schemas.microsoft.com/office/drawing/2014/main" id="{71B3AD86-7820-4542-AA79-0A71A6403B08}"/>
                </a:ext>
              </a:extLst>
            </p:cNvPr>
            <p:cNvSpPr/>
            <p:nvPr/>
          </p:nvSpPr>
          <p:spPr>
            <a:xfrm>
              <a:off x="380556" y="4367177"/>
              <a:ext cx="17526879" cy="5443041"/>
            </a:xfrm>
            <a:prstGeom prst="roundRect">
              <a:avLst/>
            </a:prstGeom>
            <a:solidFill>
              <a:srgbClr val="200B18"/>
            </a:solidFill>
            <a:ln w="12700">
              <a:solidFill>
                <a:srgbClr val="7A2A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DD72D74-9FF4-4DCA-08EA-0B0C251FC159}"/>
                </a:ext>
              </a:extLst>
            </p:cNvPr>
            <p:cNvSpPr txBox="1"/>
            <p:nvPr/>
          </p:nvSpPr>
          <p:spPr>
            <a:xfrm>
              <a:off x="1103348" y="4546918"/>
              <a:ext cx="9283621" cy="5263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zh-CN" altLang="zh-CN" sz="2200" dirty="0">
                  <a:solidFill>
                    <a:srgbClr val="C6A4B5"/>
                  </a:solidFill>
                  <a:latin typeface="Consolas"/>
                </a:rPr>
                <a:t>#  Stroop </a:t>
              </a:r>
              <a:r>
                <a:rPr lang="en-US" altLang="zh-CN" sz="2200" dirty="0">
                  <a:solidFill>
                    <a:srgbClr val="C6A4B5"/>
                  </a:solidFill>
                  <a:latin typeface="Consolas"/>
                </a:rPr>
                <a:t>task</a:t>
              </a: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数据</a:t>
              </a:r>
              <a:r>
                <a:rPr lang="en-US" altLang="zh-CN" sz="2200" dirty="0">
                  <a:solidFill>
                    <a:srgbClr val="C6A4B5"/>
                  </a:solidFill>
                  <a:latin typeface="Consolas"/>
                </a:rPr>
                <a:t>------58</a:t>
              </a:r>
            </a:p>
            <a:p>
              <a:endParaRPr lang="en-US" altLang="zh-CN" sz="2200" dirty="0">
                <a:solidFill>
                  <a:schemeClr val="bg1"/>
                </a:solidFill>
              </a:endParaRP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read_stroop &lt;- function(f) {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sid &lt;- as.integer(sub("_.*", "", basename(f))) </a:t>
              </a:r>
              <a:endParaRPr lang="en-US" altLang="zh-CN" sz="2200" dirty="0">
                <a:solidFill>
                  <a:schemeClr val="bg1"/>
                </a:solidFill>
              </a:endParaRP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d &lt;- quiet_read_csv(f)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d %&gt;%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filter(!is.na(trials.thisN), is.na(practice_1.thisN)) %&gt;%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transmute(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subject = sid,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trial = as.integer(trials.thisN), 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congruent = as.integer(congruent), 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incongruent = 1L - congruent, 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correct = as.integer(resp.corr), 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rt = as.numeric(resp.rt), 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rt_ms = rt * 1000 )</a:t>
              </a:r>
              <a:r>
                <a:rPr lang="zh-CN" altLang="en-US" sz="2200" dirty="0">
                  <a:solidFill>
                    <a:schemeClr val="bg1"/>
                  </a:solidFill>
                </a:rPr>
                <a:t> </a:t>
              </a:r>
              <a:r>
                <a:rPr lang="zh-CN" altLang="zh-CN" sz="2200" dirty="0">
                  <a:solidFill>
                    <a:schemeClr val="bg1"/>
                  </a:solidFill>
                </a:rPr>
                <a:t>}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4A4A9C8-F2EB-CBF0-E275-57065318B02F}"/>
              </a:ext>
            </a:extLst>
          </p:cNvPr>
          <p:cNvGrpSpPr/>
          <p:nvPr/>
        </p:nvGrpSpPr>
        <p:grpSpPr>
          <a:xfrm>
            <a:off x="380556" y="1521224"/>
            <a:ext cx="17526879" cy="2239758"/>
            <a:chOff x="380556" y="1521224"/>
            <a:chExt cx="17526879" cy="2239758"/>
          </a:xfrm>
        </p:grpSpPr>
        <p:sp>
          <p:nvSpPr>
            <p:cNvPr id="17" name="Rounded Rectangle 4">
              <a:extLst>
                <a:ext uri="{FF2B5EF4-FFF2-40B4-BE49-F238E27FC236}">
                  <a16:creationId xmlns:a16="http://schemas.microsoft.com/office/drawing/2014/main" id="{D819FB46-4B21-22BB-3A6C-AF06EFC0F7D0}"/>
                </a:ext>
              </a:extLst>
            </p:cNvPr>
            <p:cNvSpPr/>
            <p:nvPr/>
          </p:nvSpPr>
          <p:spPr>
            <a:xfrm>
              <a:off x="380556" y="1521224"/>
              <a:ext cx="17526879" cy="2216312"/>
            </a:xfrm>
            <a:prstGeom prst="roundRect">
              <a:avLst/>
            </a:prstGeom>
            <a:solidFill>
              <a:srgbClr val="200B18"/>
            </a:solidFill>
            <a:ln w="12700">
              <a:solidFill>
                <a:srgbClr val="7A2A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E37F30F-E3ED-508B-5F0B-A4ED293470A8}"/>
                </a:ext>
              </a:extLst>
            </p:cNvPr>
            <p:cNvSpPr txBox="1"/>
            <p:nvPr/>
          </p:nvSpPr>
          <p:spPr>
            <a:xfrm>
              <a:off x="922905" y="1544670"/>
              <a:ext cx="7434285" cy="2216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zh-CN" altLang="zh-CN" sz="1875" dirty="0">
                  <a:solidFill>
                    <a:srgbClr val="C6A4B5"/>
                  </a:solidFill>
                  <a:latin typeface="Consolas"/>
                </a:rPr>
                <a:t>#  </a:t>
              </a:r>
              <a:r>
                <a:rPr lang="en" altLang="zh-CN" sz="2200" dirty="0">
                  <a:solidFill>
                    <a:srgbClr val="C6A4B5"/>
                  </a:solidFill>
                  <a:latin typeface="Consolas"/>
                </a:rPr>
                <a:t>NFC</a:t>
              </a:r>
              <a:r>
                <a:rPr lang="zh-CN" altLang="en" sz="2200" dirty="0">
                  <a:solidFill>
                    <a:srgbClr val="C6A4B5"/>
                  </a:solidFill>
                  <a:latin typeface="Consolas"/>
                </a:rPr>
                <a:t>问卷</a:t>
              </a: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数据</a:t>
              </a:r>
              <a:r>
                <a:rPr lang="en-US" altLang="zh-CN" sz="2200" dirty="0">
                  <a:solidFill>
                    <a:srgbClr val="C6A4B5"/>
                  </a:solidFill>
                  <a:latin typeface="Consolas"/>
                </a:rPr>
                <a:t>------56</a:t>
              </a:r>
            </a:p>
            <a:p>
              <a:endParaRPr lang="en-US" altLang="zh-CN" sz="2200" dirty="0">
                <a:solidFill>
                  <a:schemeClr val="bg1"/>
                </a:solidFill>
                <a:latin typeface="+mn-ea"/>
              </a:endParaRP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quest &lt;- quiet_read_csv(Q_PATH) %&gt;%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rename(bis11 = `bis-11`) %&gt;%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mutate(subject = as.integer(subject))</a:t>
              </a:r>
            </a:p>
            <a:p>
              <a:endParaRPr lang="en" altLang="zh-CN" sz="2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276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69A98-DBC1-9302-60DB-101D430A5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B0577A8B-105E-FD61-63AC-4277D6046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92"/>
            <a:ext cx="18287999" cy="10286999"/>
          </a:xfrm>
          <a:prstGeom prst="rect">
            <a:avLst/>
          </a:prstGeom>
        </p:spPr>
      </p:pic>
      <p:pic>
        <p:nvPicPr>
          <p:cNvPr id="10" name="object 3">
            <a:extLst>
              <a:ext uri="{FF2B5EF4-FFF2-40B4-BE49-F238E27FC236}">
                <a16:creationId xmlns:a16="http://schemas.microsoft.com/office/drawing/2014/main" id="{15FCB37F-3F7C-D88C-D141-0702983CB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8120" y="6201918"/>
            <a:ext cx="3219878" cy="4084989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C7E1DC97-2027-BEF4-2C1B-2E2D38A18A36}"/>
              </a:ext>
            </a:extLst>
          </p:cNvPr>
          <p:cNvSpPr txBox="1"/>
          <p:nvPr/>
        </p:nvSpPr>
        <p:spPr>
          <a:xfrm>
            <a:off x="206271" y="180753"/>
            <a:ext cx="8150919" cy="33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dirty="0">
                <a:solidFill>
                  <a:schemeClr val="bg1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3</a:t>
            </a:r>
            <a:r>
              <a:rPr lang="zh-CN" altLang="en-US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 数据处理</a:t>
            </a:r>
            <a:endParaRPr sz="2200" b="1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1E557066-5459-DC88-3882-EC23AC0646F4}"/>
              </a:ext>
            </a:extLst>
          </p:cNvPr>
          <p:cNvSpPr txBox="1"/>
          <p:nvPr/>
        </p:nvSpPr>
        <p:spPr>
          <a:xfrm>
            <a:off x="813390" y="991533"/>
            <a:ext cx="15087600" cy="421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① </a:t>
            </a:r>
            <a:r>
              <a:rPr sz="2800" b="1" dirty="0" err="1">
                <a:solidFill>
                  <a:srgbClr val="E2869C"/>
                </a:solidFill>
                <a:latin typeface="Microsoft YaHei"/>
                <a:ea typeface="Microsoft YaHei"/>
              </a:rPr>
              <a:t>数据预处理</a:t>
            </a: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-------------Task-switching</a:t>
            </a:r>
            <a:endParaRPr sz="2800" b="1" dirty="0">
              <a:solidFill>
                <a:srgbClr val="E2869C"/>
              </a:solidFill>
              <a:latin typeface="Microsoft YaHei"/>
              <a:ea typeface="Microsoft YaHei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5FA7C7-D008-C461-9F17-02504E5B8CFB}"/>
              </a:ext>
            </a:extLst>
          </p:cNvPr>
          <p:cNvGrpSpPr/>
          <p:nvPr/>
        </p:nvGrpSpPr>
        <p:grpSpPr>
          <a:xfrm>
            <a:off x="257402" y="1749095"/>
            <a:ext cx="17773192" cy="8120570"/>
            <a:chOff x="302157" y="1892595"/>
            <a:chExt cx="17773192" cy="8120570"/>
          </a:xfrm>
        </p:grpSpPr>
        <p:sp>
          <p:nvSpPr>
            <p:cNvPr id="17" name="Rounded Rectangle 4">
              <a:extLst>
                <a:ext uri="{FF2B5EF4-FFF2-40B4-BE49-F238E27FC236}">
                  <a16:creationId xmlns:a16="http://schemas.microsoft.com/office/drawing/2014/main" id="{9E891697-5570-EA72-1516-4403C53A38D0}"/>
                </a:ext>
              </a:extLst>
            </p:cNvPr>
            <p:cNvSpPr/>
            <p:nvPr/>
          </p:nvSpPr>
          <p:spPr>
            <a:xfrm>
              <a:off x="302157" y="1892595"/>
              <a:ext cx="17773192" cy="7846827"/>
            </a:xfrm>
            <a:prstGeom prst="roundRect">
              <a:avLst/>
            </a:prstGeom>
            <a:solidFill>
              <a:srgbClr val="200B18"/>
            </a:solidFill>
            <a:ln w="12700">
              <a:solidFill>
                <a:srgbClr val="7A2A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B739890-2610-E836-B2BD-EA742A6294F3}"/>
                </a:ext>
              </a:extLst>
            </p:cNvPr>
            <p:cNvSpPr txBox="1"/>
            <p:nvPr/>
          </p:nvSpPr>
          <p:spPr>
            <a:xfrm>
              <a:off x="1176154" y="2041431"/>
              <a:ext cx="8088521" cy="7971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zh-CN" altLang="zh-CN" sz="2200" dirty="0">
                  <a:solidFill>
                    <a:srgbClr val="C6A4B5"/>
                  </a:solidFill>
                  <a:latin typeface="Consolas"/>
                </a:rPr>
                <a:t>#  </a:t>
              </a:r>
              <a:r>
                <a:rPr lang="en" altLang="zh-CN" sz="2200" dirty="0">
                  <a:solidFill>
                    <a:srgbClr val="C6A4B5"/>
                  </a:solidFill>
                  <a:latin typeface="Consolas"/>
                </a:rPr>
                <a:t>task-switching</a:t>
              </a: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数据</a:t>
              </a:r>
              <a:r>
                <a:rPr lang="en-US" altLang="zh-CN" sz="2200" dirty="0">
                  <a:solidFill>
                    <a:srgbClr val="C6A4B5"/>
                  </a:solidFill>
                  <a:latin typeface="Consolas"/>
                </a:rPr>
                <a:t>------62</a:t>
              </a:r>
            </a:p>
            <a:p>
              <a:endParaRPr lang="en-US" altLang="zh-CN" sz="2200" dirty="0">
                <a:solidFill>
                  <a:schemeClr val="bg1"/>
                </a:solidFill>
              </a:endParaRPr>
            </a:p>
            <a:p>
              <a:r>
                <a:rPr lang="en" altLang="zh-CN" sz="2200" dirty="0" err="1">
                  <a:solidFill>
                    <a:schemeClr val="bg1"/>
                  </a:solidFill>
                </a:rPr>
                <a:t>read_switch</a:t>
              </a:r>
              <a:r>
                <a:rPr lang="en" altLang="zh-CN" sz="2200" dirty="0">
                  <a:solidFill>
                    <a:schemeClr val="bg1"/>
                  </a:solidFill>
                </a:rPr>
                <a:t> &lt;- function(f) {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base &lt;-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basename</a:t>
              </a:r>
              <a:r>
                <a:rPr lang="en" altLang="zh-CN" sz="2200" dirty="0">
                  <a:solidFill>
                    <a:schemeClr val="bg1"/>
                  </a:solidFill>
                </a:rPr>
                <a:t>(f)</a:t>
              </a:r>
            </a:p>
            <a:p>
              <a:r>
                <a:rPr lang="en" altLang="zh-CN" sz="2200" dirty="0" err="1">
                  <a:solidFill>
                    <a:schemeClr val="bg1"/>
                  </a:solidFill>
                </a:rPr>
                <a:t>sid</a:t>
              </a:r>
              <a:r>
                <a:rPr lang="en" altLang="zh-CN" sz="2200" dirty="0">
                  <a:solidFill>
                    <a:schemeClr val="bg1"/>
                  </a:solidFill>
                </a:rPr>
                <a:t> &lt;-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as.integer</a:t>
              </a:r>
              <a:r>
                <a:rPr lang="en" altLang="zh-CN" sz="2200" dirty="0">
                  <a:solidFill>
                    <a:schemeClr val="bg1"/>
                  </a:solidFill>
                </a:rPr>
                <a:t>(sub("_.*", "", base)) </a:t>
              </a:r>
            </a:p>
            <a:p>
              <a:r>
                <a:rPr lang="en" altLang="zh-CN" sz="2200" dirty="0" err="1">
                  <a:solidFill>
                    <a:schemeClr val="bg1"/>
                  </a:solidFill>
                </a:rPr>
                <a:t>file_ts</a:t>
              </a:r>
              <a:r>
                <a:rPr lang="en" altLang="zh-CN" sz="2200" dirty="0">
                  <a:solidFill>
                    <a:schemeClr val="bg1"/>
                  </a:solidFill>
                </a:rPr>
                <a:t> &lt;- sub("^[0-9]+_(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taskSwitchHR|taskSwitch</a:t>
              </a:r>
              <a:r>
                <a:rPr lang="en" altLang="zh-CN" sz="2200" dirty="0">
                  <a:solidFill>
                    <a:schemeClr val="bg1"/>
                  </a:solidFill>
                </a:rPr>
                <a:t>)_(.*)\\.csv$", "\\2", base)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d &lt;-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quiet_read_csv</a:t>
              </a:r>
              <a:r>
                <a:rPr lang="en" altLang="zh-CN" sz="2200" dirty="0">
                  <a:solidFill>
                    <a:schemeClr val="bg1"/>
                  </a:solidFill>
                </a:rPr>
                <a:t>(f)</a:t>
              </a:r>
            </a:p>
            <a:p>
              <a:r>
                <a:rPr lang="en" altLang="zh-CN" sz="2200" dirty="0" err="1">
                  <a:solidFill>
                    <a:schemeClr val="bg1"/>
                  </a:solidFill>
                </a:rPr>
                <a:t>cond</a:t>
              </a:r>
              <a:r>
                <a:rPr lang="en" altLang="zh-CN" sz="2200" dirty="0">
                  <a:solidFill>
                    <a:schemeClr val="bg1"/>
                  </a:solidFill>
                </a:rPr>
                <a:t> &lt;-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na.omit</a:t>
              </a:r>
              <a:r>
                <a:rPr lang="en" altLang="zh-CN" sz="2200" dirty="0">
                  <a:solidFill>
                    <a:schemeClr val="bg1"/>
                  </a:solidFill>
                </a:rPr>
                <a:t>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d$condition</a:t>
              </a:r>
              <a:r>
                <a:rPr lang="en" altLang="zh-CN" sz="2200" dirty="0">
                  <a:solidFill>
                    <a:schemeClr val="bg1"/>
                  </a:solidFill>
                </a:rPr>
                <a:t>)[1] 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d %&gt;%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filter(!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is.na</a:t>
              </a:r>
              <a:r>
                <a:rPr lang="en" altLang="zh-CN" sz="2200" dirty="0">
                  <a:solidFill>
                    <a:schemeClr val="bg1"/>
                  </a:solidFill>
                </a:rPr>
                <a:t>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trials.thisN</a:t>
              </a:r>
              <a:r>
                <a:rPr lang="en" altLang="zh-CN" sz="2200" dirty="0">
                  <a:solidFill>
                    <a:schemeClr val="bg1"/>
                  </a:solidFill>
                </a:rPr>
                <a:t>),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is.na</a:t>
              </a:r>
              <a:r>
                <a:rPr lang="en" altLang="zh-CN" sz="2200" dirty="0">
                  <a:solidFill>
                    <a:schemeClr val="bg1"/>
                  </a:solidFill>
                </a:rPr>
                <a:t>(trials_2.thisN)) %&gt;%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transmute(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subject =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sid</a:t>
              </a:r>
              <a:r>
                <a:rPr lang="en" altLang="zh-CN" sz="2200" dirty="0">
                  <a:solidFill>
                    <a:schemeClr val="bg1"/>
                  </a:solidFill>
                </a:rPr>
                <a:t>,</a:t>
              </a:r>
            </a:p>
            <a:p>
              <a:r>
                <a:rPr lang="en" altLang="zh-CN" sz="2200" dirty="0" err="1">
                  <a:solidFill>
                    <a:schemeClr val="bg1"/>
                  </a:solidFill>
                </a:rPr>
                <a:t>file_ts</a:t>
              </a:r>
              <a:r>
                <a:rPr lang="en" altLang="zh-CN" sz="2200" dirty="0">
                  <a:solidFill>
                    <a:schemeClr val="bg1"/>
                  </a:solidFill>
                </a:rPr>
                <a:t> =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file_ts</a:t>
              </a:r>
              <a:r>
                <a:rPr lang="en" altLang="zh-CN" sz="2200" dirty="0">
                  <a:solidFill>
                    <a:schemeClr val="bg1"/>
                  </a:solidFill>
                </a:rPr>
                <a:t>,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reward =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if_else</a:t>
              </a:r>
              <a:r>
                <a:rPr lang="en" altLang="zh-CN" sz="2200" dirty="0">
                  <a:solidFill>
                    <a:schemeClr val="bg1"/>
                  </a:solidFill>
                </a:rPr>
                <a:t>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cond</a:t>
              </a:r>
              <a:r>
                <a:rPr lang="en" altLang="zh-CN" sz="2200" dirty="0">
                  <a:solidFill>
                    <a:schemeClr val="bg1"/>
                  </a:solidFill>
                </a:rPr>
                <a:t> == "HR", 1L, 0L), 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trial =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as.integer</a:t>
              </a:r>
              <a:r>
                <a:rPr lang="en" altLang="zh-CN" sz="2200" dirty="0">
                  <a:solidFill>
                    <a:schemeClr val="bg1"/>
                  </a:solidFill>
                </a:rPr>
                <a:t>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trials.thisN</a:t>
              </a:r>
              <a:r>
                <a:rPr lang="en" altLang="zh-CN" sz="2200" dirty="0">
                  <a:solidFill>
                    <a:schemeClr val="bg1"/>
                  </a:solidFill>
                </a:rPr>
                <a:t>),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task =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as.integer</a:t>
              </a:r>
              <a:r>
                <a:rPr lang="en" altLang="zh-CN" sz="2200" dirty="0">
                  <a:solidFill>
                    <a:schemeClr val="bg1"/>
                  </a:solidFill>
                </a:rPr>
                <a:t>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spades_or_hearts</a:t>
              </a:r>
              <a:r>
                <a:rPr lang="en" altLang="zh-CN" sz="2200" dirty="0">
                  <a:solidFill>
                    <a:schemeClr val="bg1"/>
                  </a:solidFill>
                </a:rPr>
                <a:t>), 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correct =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as.integer</a:t>
              </a:r>
              <a:r>
                <a:rPr lang="en" altLang="zh-CN" sz="2200" dirty="0">
                  <a:solidFill>
                    <a:schemeClr val="bg1"/>
                  </a:solidFill>
                </a:rPr>
                <a:t>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resp.corr</a:t>
              </a:r>
              <a:r>
                <a:rPr lang="en" altLang="zh-CN" sz="2200" dirty="0">
                  <a:solidFill>
                    <a:schemeClr val="bg1"/>
                  </a:solidFill>
                </a:rPr>
                <a:t>), 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rt =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as.numeric</a:t>
              </a:r>
              <a:r>
                <a:rPr lang="en" altLang="zh-CN" sz="2200" dirty="0">
                  <a:solidFill>
                    <a:schemeClr val="bg1"/>
                  </a:solidFill>
                </a:rPr>
                <a:t>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resp.rt</a:t>
              </a:r>
              <a:r>
                <a:rPr lang="en" altLang="zh-CN" sz="2200" dirty="0">
                  <a:solidFill>
                    <a:schemeClr val="bg1"/>
                  </a:solidFill>
                </a:rPr>
                <a:t>),</a:t>
              </a:r>
            </a:p>
            <a:p>
              <a:r>
                <a:rPr lang="en" altLang="zh-CN" sz="2200" dirty="0" err="1">
                  <a:solidFill>
                    <a:schemeClr val="bg1"/>
                  </a:solidFill>
                </a:rPr>
                <a:t>rt_ms</a:t>
              </a:r>
              <a:r>
                <a:rPr lang="en" altLang="zh-CN" sz="2200" dirty="0">
                  <a:solidFill>
                    <a:schemeClr val="bg1"/>
                  </a:solidFill>
                </a:rPr>
                <a:t> = rt * 1000)</a:t>
              </a:r>
              <a:r>
                <a:rPr lang="zh-CN" altLang="en-US" sz="2200" dirty="0">
                  <a:solidFill>
                    <a:schemeClr val="bg1"/>
                  </a:solidFill>
                </a:rPr>
                <a:t> </a:t>
              </a:r>
              <a:r>
                <a:rPr lang="en" altLang="zh-CN" sz="2200" dirty="0">
                  <a:solidFill>
                    <a:schemeClr val="bg1"/>
                  </a:solidFill>
                </a:rPr>
                <a:t>}</a:t>
              </a:r>
            </a:p>
            <a:p>
              <a:r>
                <a:rPr lang="en" altLang="zh-CN" sz="2200" dirty="0" err="1">
                  <a:solidFill>
                    <a:schemeClr val="bg1"/>
                  </a:solidFill>
                </a:rPr>
                <a:t>ts_raw</a:t>
              </a:r>
              <a:r>
                <a:rPr lang="en" altLang="zh-CN" sz="2200" dirty="0">
                  <a:solidFill>
                    <a:schemeClr val="bg1"/>
                  </a:solidFill>
                </a:rPr>
                <a:t> &lt;-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map_dfr</a:t>
              </a:r>
              <a:r>
                <a:rPr lang="en" altLang="zh-CN" sz="2200" dirty="0">
                  <a:solidFill>
                    <a:schemeClr val="bg1"/>
                  </a:solidFill>
                </a:rPr>
                <a:t>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list.files</a:t>
              </a:r>
              <a:r>
                <a:rPr lang="en" altLang="zh-CN" sz="2200" dirty="0">
                  <a:solidFill>
                    <a:schemeClr val="bg1"/>
                  </a:solidFill>
                </a:rPr>
                <a:t>(SWITCH_DIR, “\\.csv$”,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full.names</a:t>
              </a:r>
              <a:r>
                <a:rPr lang="en" altLang="zh-CN" sz="2200" dirty="0">
                  <a:solidFill>
                    <a:schemeClr val="bg1"/>
                  </a:solidFill>
                </a:rPr>
                <a:t> =TRUE),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read_switch</a:t>
              </a:r>
              <a:r>
                <a:rPr lang="en" altLang="zh-CN" sz="2200" dirty="0">
                  <a:solidFill>
                    <a:schemeClr val="bg1"/>
                  </a:solidFill>
                </a:rPr>
                <a:t>) %&gt;%</a:t>
              </a:r>
              <a:r>
                <a:rPr lang="zh-CN" altLang="en-US" sz="2200" dirty="0">
                  <a:solidFill>
                    <a:schemeClr val="bg1"/>
                  </a:solidFill>
                </a:rPr>
                <a:t>  </a:t>
              </a:r>
              <a:r>
                <a:rPr lang="en" altLang="zh-CN" sz="2200" dirty="0">
                  <a:solidFill>
                    <a:schemeClr val="bg1"/>
                  </a:solidFill>
                </a:rPr>
                <a:t>arrange(subject,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file_ts</a:t>
              </a:r>
              <a:r>
                <a:rPr lang="en" altLang="zh-CN" sz="2200" dirty="0">
                  <a:solidFill>
                    <a:schemeClr val="bg1"/>
                  </a:solidFill>
                </a:rPr>
                <a:t>, trial)</a:t>
              </a:r>
            </a:p>
            <a:p>
              <a:endParaRPr lang="en" altLang="zh-CN" sz="2200" dirty="0">
                <a:solidFill>
                  <a:schemeClr val="bg1"/>
                </a:solidFill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FBF68372-1FC7-BA65-75FA-3441A3E78DC2}"/>
                </a:ext>
              </a:extLst>
            </p:cNvPr>
            <p:cNvSpPr txBox="1"/>
            <p:nvPr/>
          </p:nvSpPr>
          <p:spPr>
            <a:xfrm>
              <a:off x="10138672" y="2659406"/>
              <a:ext cx="7434285" cy="5940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zh-CN" altLang="zh-CN" sz="2200" dirty="0">
                  <a:solidFill>
                    <a:srgbClr val="C6A4B5"/>
                  </a:solidFill>
                  <a:latin typeface="Consolas"/>
                </a:rPr>
                <a:t>#</a:t>
              </a: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 恢复 </a:t>
              </a:r>
              <a:r>
                <a:rPr lang="en" altLang="zh-CN" sz="2200" dirty="0">
                  <a:solidFill>
                    <a:srgbClr val="C6A4B5"/>
                  </a:solidFill>
                  <a:latin typeface="Consolas"/>
                </a:rPr>
                <a:t>block </a:t>
              </a: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顺序，并判定 </a:t>
              </a:r>
              <a:r>
                <a:rPr lang="en" altLang="zh-CN" sz="2200" dirty="0">
                  <a:solidFill>
                    <a:srgbClr val="C6A4B5"/>
                  </a:solidFill>
                  <a:latin typeface="Consolas"/>
                </a:rPr>
                <a:t>switch / repeat</a:t>
              </a:r>
              <a:endParaRPr lang="en-US" altLang="zh-CN" sz="2200" dirty="0">
                <a:solidFill>
                  <a:srgbClr val="C6A4B5"/>
                </a:solidFill>
                <a:latin typeface="Consolas"/>
              </a:endParaRPr>
            </a:p>
            <a:p>
              <a:endParaRPr lang="en-US" altLang="zh-CN" sz="2200" dirty="0">
                <a:solidFill>
                  <a:schemeClr val="bg1"/>
                </a:solidFill>
              </a:endParaRPr>
            </a:p>
            <a:p>
              <a:r>
                <a:rPr lang="en" altLang="zh-CN" sz="2200" dirty="0" err="1">
                  <a:solidFill>
                    <a:schemeClr val="bg1"/>
                  </a:solidFill>
                </a:rPr>
                <a:t>block_lookup</a:t>
              </a:r>
              <a:r>
                <a:rPr lang="en" altLang="zh-CN" sz="2200" dirty="0">
                  <a:solidFill>
                    <a:schemeClr val="bg1"/>
                  </a:solidFill>
                </a:rPr>
                <a:t> &lt;-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ts_raw</a:t>
              </a:r>
              <a:r>
                <a:rPr lang="en" altLang="zh-CN" sz="2200" dirty="0">
                  <a:solidFill>
                    <a:schemeClr val="bg1"/>
                  </a:solidFill>
                </a:rPr>
                <a:t> %&gt;%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distinct(subject,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file_ts</a:t>
              </a:r>
              <a:r>
                <a:rPr lang="en" altLang="zh-CN" sz="2200" dirty="0">
                  <a:solidFill>
                    <a:schemeClr val="bg1"/>
                  </a:solidFill>
                </a:rPr>
                <a:t>) %&gt;%</a:t>
              </a:r>
            </a:p>
            <a:p>
              <a:r>
                <a:rPr lang="en" altLang="zh-CN" sz="2200" dirty="0" err="1">
                  <a:solidFill>
                    <a:schemeClr val="bg1"/>
                  </a:solidFill>
                </a:rPr>
                <a:t>group_by</a:t>
              </a:r>
              <a:r>
                <a:rPr lang="en" altLang="zh-CN" sz="2200" dirty="0">
                  <a:solidFill>
                    <a:schemeClr val="bg1"/>
                  </a:solidFill>
                </a:rPr>
                <a:t>(subject) %&gt;%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mutate(block = rank(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file_ts</a:t>
              </a:r>
              <a:r>
                <a:rPr lang="en" altLang="zh-CN" sz="2200" dirty="0">
                  <a:solidFill>
                    <a:schemeClr val="bg1"/>
                  </a:solidFill>
                </a:rPr>
                <a:t>,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ties.method</a:t>
              </a:r>
              <a:r>
                <a:rPr lang="en" altLang="zh-CN" sz="2200" dirty="0">
                  <a:solidFill>
                    <a:schemeClr val="bg1"/>
                  </a:solidFill>
                </a:rPr>
                <a:t> = "first")) %&gt;%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ungroup()</a:t>
              </a:r>
            </a:p>
            <a:p>
              <a:r>
                <a:rPr lang="en" altLang="zh-CN" sz="2200" dirty="0" err="1">
                  <a:solidFill>
                    <a:schemeClr val="bg1"/>
                  </a:solidFill>
                </a:rPr>
                <a:t>ts_raw</a:t>
              </a:r>
              <a:r>
                <a:rPr lang="en" altLang="zh-CN" sz="2200" dirty="0">
                  <a:solidFill>
                    <a:schemeClr val="bg1"/>
                  </a:solidFill>
                </a:rPr>
                <a:t> &lt;-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ts_raw</a:t>
              </a:r>
              <a:r>
                <a:rPr lang="en" altLang="zh-CN" sz="2200" dirty="0">
                  <a:solidFill>
                    <a:schemeClr val="bg1"/>
                  </a:solidFill>
                </a:rPr>
                <a:t> %&gt;%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left_join</a:t>
              </a:r>
              <a:r>
                <a:rPr lang="en" altLang="zh-CN" sz="2200" dirty="0">
                  <a:solidFill>
                    <a:schemeClr val="bg1"/>
                  </a:solidFill>
                </a:rPr>
                <a:t>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block_lookup</a:t>
              </a:r>
              <a:r>
                <a:rPr lang="en" altLang="zh-CN" sz="2200" dirty="0">
                  <a:solidFill>
                    <a:schemeClr val="bg1"/>
                  </a:solidFill>
                </a:rPr>
                <a:t>, by = c("subject", "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file_ts</a:t>
              </a:r>
              <a:r>
                <a:rPr lang="en" altLang="zh-CN" sz="2200" dirty="0">
                  <a:solidFill>
                    <a:schemeClr val="bg1"/>
                  </a:solidFill>
                </a:rPr>
                <a:t>"))</a:t>
              </a:r>
            </a:p>
            <a:p>
              <a:br>
                <a:rPr lang="en" altLang="zh-CN" sz="2200" dirty="0">
                  <a:solidFill>
                    <a:schemeClr val="bg1"/>
                  </a:solidFill>
                </a:rPr>
              </a:br>
              <a:r>
                <a:rPr lang="en" altLang="zh-CN" sz="2200" dirty="0" err="1">
                  <a:solidFill>
                    <a:schemeClr val="bg1"/>
                  </a:solidFill>
                </a:rPr>
                <a:t>ts_raw</a:t>
              </a:r>
              <a:r>
                <a:rPr lang="en" altLang="zh-CN" sz="2200" dirty="0">
                  <a:solidFill>
                    <a:schemeClr val="bg1"/>
                  </a:solidFill>
                </a:rPr>
                <a:t> &lt;-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ts_raw</a:t>
              </a:r>
              <a:r>
                <a:rPr lang="en" altLang="zh-CN" sz="2200" dirty="0">
                  <a:solidFill>
                    <a:schemeClr val="bg1"/>
                  </a:solidFill>
                </a:rPr>
                <a:t> %&gt;%</a:t>
              </a:r>
            </a:p>
            <a:p>
              <a:r>
                <a:rPr lang="en" altLang="zh-CN" sz="2200" dirty="0" err="1">
                  <a:solidFill>
                    <a:schemeClr val="bg1"/>
                  </a:solidFill>
                </a:rPr>
                <a:t>group_by</a:t>
              </a:r>
              <a:r>
                <a:rPr lang="en" altLang="zh-CN" sz="2200" dirty="0">
                  <a:solidFill>
                    <a:schemeClr val="bg1"/>
                  </a:solidFill>
                </a:rPr>
                <a:t>(subject, block) %&gt;%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arrange(trial, .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by_group</a:t>
              </a:r>
              <a:r>
                <a:rPr lang="en" altLang="zh-CN" sz="2200" dirty="0">
                  <a:solidFill>
                    <a:schemeClr val="bg1"/>
                  </a:solidFill>
                </a:rPr>
                <a:t> = TRUE) %&gt;%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mutate(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prev_task</a:t>
              </a:r>
              <a:r>
                <a:rPr lang="en" altLang="zh-CN" sz="2200" dirty="0">
                  <a:solidFill>
                    <a:schemeClr val="bg1"/>
                  </a:solidFill>
                </a:rPr>
                <a:t> = lag(task),</a:t>
              </a:r>
            </a:p>
            <a:p>
              <a:r>
                <a:rPr lang="en" altLang="zh-CN" sz="2200" dirty="0" err="1">
                  <a:solidFill>
                    <a:schemeClr val="bg1"/>
                  </a:solidFill>
                </a:rPr>
                <a:t>trial_type</a:t>
              </a:r>
              <a:r>
                <a:rPr lang="en" altLang="zh-CN" sz="2200" dirty="0">
                  <a:solidFill>
                    <a:schemeClr val="bg1"/>
                  </a:solidFill>
                </a:rPr>
                <a:t> =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if_else</a:t>
              </a:r>
              <a:r>
                <a:rPr lang="en" altLang="zh-CN" sz="2200" dirty="0">
                  <a:solidFill>
                    <a:schemeClr val="bg1"/>
                  </a:solidFill>
                </a:rPr>
                <a:t>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is.na</a:t>
              </a:r>
              <a:r>
                <a:rPr lang="en" altLang="zh-CN" sz="2200" dirty="0">
                  <a:solidFill>
                    <a:schemeClr val="bg1"/>
                  </a:solidFill>
                </a:rPr>
                <a:t>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prev_task</a:t>
              </a:r>
              <a:r>
                <a:rPr lang="en" altLang="zh-CN" sz="2200" dirty="0">
                  <a:solidFill>
                    <a:schemeClr val="bg1"/>
                  </a:solidFill>
                </a:rPr>
                <a:t>),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NA_character</a:t>
              </a:r>
              <a:r>
                <a:rPr lang="en" altLang="zh-CN" sz="2200" dirty="0">
                  <a:solidFill>
                    <a:schemeClr val="bg1"/>
                  </a:solidFill>
                </a:rPr>
                <a:t>_,</a:t>
              </a:r>
            </a:p>
            <a:p>
              <a:r>
                <a:rPr lang="en" altLang="zh-CN" sz="2200" dirty="0" err="1">
                  <a:solidFill>
                    <a:schemeClr val="bg1"/>
                  </a:solidFill>
                </a:rPr>
                <a:t>if_else</a:t>
              </a:r>
              <a:r>
                <a:rPr lang="en" altLang="zh-CN" sz="2200" dirty="0">
                  <a:solidFill>
                    <a:schemeClr val="bg1"/>
                  </a:solidFill>
                </a:rPr>
                <a:t>(task !=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prev_task</a:t>
              </a:r>
              <a:r>
                <a:rPr lang="en" altLang="zh-CN" sz="2200" dirty="0">
                  <a:solidFill>
                    <a:schemeClr val="bg1"/>
                  </a:solidFill>
                </a:rPr>
                <a:t>, "switch", "repeat"))) %&gt;%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ungroup()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098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3C3C2-0331-8D5F-EC8B-621A8D4C2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B09B3D4-5142-9026-A20C-DED00BFBC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92"/>
            <a:ext cx="18287999" cy="10286999"/>
          </a:xfrm>
          <a:prstGeom prst="rect">
            <a:avLst/>
          </a:prstGeom>
        </p:spPr>
      </p:pic>
      <p:pic>
        <p:nvPicPr>
          <p:cNvPr id="10" name="object 3">
            <a:extLst>
              <a:ext uri="{FF2B5EF4-FFF2-40B4-BE49-F238E27FC236}">
                <a16:creationId xmlns:a16="http://schemas.microsoft.com/office/drawing/2014/main" id="{A66C1E7F-4D97-F501-2C37-9F29ACF51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8120" y="6201918"/>
            <a:ext cx="3219878" cy="4084989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134C768E-D7B1-5647-D716-A153D99D56DD}"/>
              </a:ext>
            </a:extLst>
          </p:cNvPr>
          <p:cNvSpPr txBox="1"/>
          <p:nvPr/>
        </p:nvSpPr>
        <p:spPr>
          <a:xfrm>
            <a:off x="206271" y="180753"/>
            <a:ext cx="8150919" cy="33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dirty="0">
                <a:solidFill>
                  <a:schemeClr val="bg1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3</a:t>
            </a:r>
            <a:r>
              <a:rPr lang="zh-CN" altLang="en-US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 数据处理</a:t>
            </a:r>
            <a:endParaRPr sz="2200" b="1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9F35FA9-C7E5-511E-AA70-C07432CD67D1}"/>
              </a:ext>
            </a:extLst>
          </p:cNvPr>
          <p:cNvGrpSpPr/>
          <p:nvPr/>
        </p:nvGrpSpPr>
        <p:grpSpPr>
          <a:xfrm>
            <a:off x="342462" y="1632637"/>
            <a:ext cx="17603071" cy="8017736"/>
            <a:chOff x="302157" y="1892596"/>
            <a:chExt cx="17603071" cy="8017736"/>
          </a:xfrm>
        </p:grpSpPr>
        <p:sp>
          <p:nvSpPr>
            <p:cNvPr id="17" name="Rounded Rectangle 4">
              <a:extLst>
                <a:ext uri="{FF2B5EF4-FFF2-40B4-BE49-F238E27FC236}">
                  <a16:creationId xmlns:a16="http://schemas.microsoft.com/office/drawing/2014/main" id="{2ADFD192-6746-4023-BC43-04EF9045C1A9}"/>
                </a:ext>
              </a:extLst>
            </p:cNvPr>
            <p:cNvSpPr/>
            <p:nvPr/>
          </p:nvSpPr>
          <p:spPr>
            <a:xfrm>
              <a:off x="302157" y="1892596"/>
              <a:ext cx="17603071" cy="7818488"/>
            </a:xfrm>
            <a:prstGeom prst="roundRect">
              <a:avLst/>
            </a:prstGeom>
            <a:solidFill>
              <a:srgbClr val="200B18"/>
            </a:solidFill>
            <a:ln w="12700">
              <a:solidFill>
                <a:srgbClr val="7A2A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B22ABB3-59E1-4618-558F-58CE00359E1D}"/>
                </a:ext>
              </a:extLst>
            </p:cNvPr>
            <p:cNvSpPr txBox="1"/>
            <p:nvPr/>
          </p:nvSpPr>
          <p:spPr>
            <a:xfrm>
              <a:off x="1147540" y="2091845"/>
              <a:ext cx="11420144" cy="7818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zh-CN" altLang="zh-CN" sz="2200" dirty="0">
                  <a:solidFill>
                    <a:srgbClr val="C6A4B5"/>
                  </a:solidFill>
                  <a:latin typeface="Consolas"/>
                </a:rPr>
                <a:t>#  </a:t>
              </a: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数据剔除</a:t>
              </a:r>
              <a:r>
                <a:rPr lang="en-US" altLang="zh-CN" sz="2200" dirty="0">
                  <a:solidFill>
                    <a:srgbClr val="C6A4B5"/>
                  </a:solidFill>
                  <a:latin typeface="Consolas"/>
                </a:rPr>
                <a:t>----------</a:t>
              </a: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最终保留被试</a:t>
              </a:r>
              <a:r>
                <a:rPr lang="en-US" altLang="zh-CN" sz="2200" dirty="0">
                  <a:solidFill>
                    <a:srgbClr val="C6A4B5"/>
                  </a:solidFill>
                  <a:latin typeface="Consolas"/>
                </a:rPr>
                <a:t>-------53</a:t>
              </a: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标准 </a:t>
              </a:r>
              <a:r>
                <a:rPr lang="en-US" altLang="zh-CN" sz="2200" dirty="0">
                  <a:solidFill>
                    <a:srgbClr val="C6A4B5"/>
                  </a:solidFill>
                  <a:latin typeface="Consolas"/>
                </a:rPr>
                <a:t>(1)</a:t>
              </a: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：两类数据</a:t>
              </a:r>
              <a:r>
                <a:rPr lang="en-US" altLang="zh-CN" sz="2200" dirty="0">
                  <a:solidFill>
                    <a:srgbClr val="C6A4B5"/>
                  </a:solidFill>
                  <a:latin typeface="Consolas"/>
                </a:rPr>
                <a:t>(Stroop / task-switching)</a:t>
              </a: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齐全 </a:t>
              </a:r>
              <a:endParaRPr lang="en-US" altLang="zh-CN" sz="2200" dirty="0">
                <a:solidFill>
                  <a:srgbClr val="C6A4B5"/>
                </a:solidFill>
                <a:latin typeface="Consolas"/>
              </a:endParaRP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标准 </a:t>
              </a:r>
              <a:r>
                <a:rPr lang="en-US" altLang="zh-CN" sz="2200" dirty="0">
                  <a:solidFill>
                    <a:srgbClr val="C6A4B5"/>
                  </a:solidFill>
                  <a:latin typeface="Consolas"/>
                </a:rPr>
                <a:t>(2)</a:t>
              </a: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：任一任务正确率 </a:t>
              </a:r>
              <a:r>
                <a:rPr lang="en-US" altLang="zh-CN" sz="2200" dirty="0">
                  <a:solidFill>
                    <a:srgbClr val="C6A4B5"/>
                  </a:solidFill>
                  <a:latin typeface="Consolas"/>
                </a:rPr>
                <a:t>&lt; 80%</a:t>
              </a:r>
            </a:p>
            <a:p>
              <a:endParaRPr lang="en-US" altLang="zh-CN" sz="2200" dirty="0">
                <a:solidFill>
                  <a:schemeClr val="bg1"/>
                </a:solidFill>
              </a:endParaRP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have_stroop &lt;- unique(stroop$subject)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have_switch &lt;- unique(ts_raw$subject)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have_nfc &lt;- quest %&gt;% filter(!is.na(nfc)) %&gt;% pull(subject)</a:t>
              </a:r>
            </a:p>
            <a:p>
              <a:br>
                <a:rPr lang="zh-CN" altLang="zh-CN" sz="2200" dirty="0">
                  <a:solidFill>
                    <a:schemeClr val="bg1"/>
                  </a:solidFill>
                </a:rPr>
              </a:br>
              <a:r>
                <a:rPr lang="zh-CN" altLang="zh-CN" sz="2200" dirty="0">
                  <a:solidFill>
                    <a:schemeClr val="bg1"/>
                  </a:solidFill>
                </a:rPr>
                <a:t>candidate &lt;- sort(intersect(have_stroop, have_switch))</a:t>
              </a:r>
            </a:p>
            <a:p>
              <a:endParaRPr lang="en-US" altLang="zh-CN" sz="2200" dirty="0">
                <a:solidFill>
                  <a:schemeClr val="bg1"/>
                </a:solidFill>
              </a:endParaRP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stroop &lt;- filter(stroop, subject %in% candidate)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ts_raw &lt;- filter(ts_raw, subject %in% candidate)</a:t>
              </a:r>
            </a:p>
            <a:p>
              <a:br>
                <a:rPr lang="zh-CN" altLang="zh-CN" sz="2200" dirty="0">
                  <a:solidFill>
                    <a:schemeClr val="bg1"/>
                  </a:solidFill>
                </a:rPr>
              </a:br>
              <a:r>
                <a:rPr lang="zh-CN" altLang="zh-CN" sz="2200" dirty="0">
                  <a:solidFill>
                    <a:schemeClr val="bg1"/>
                  </a:solidFill>
                </a:rPr>
                <a:t>stroop_acc &lt;- stroop %&gt;% group_by(subject) %&gt;% summarise(acc = mean(correct, na.rm = TRUE))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ts_acc &lt;- ts_raw %&gt;% group_by(subject) %&gt;% summarise(acc = mean(correct, na.rm = TRUE))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excl_low_acc &lt;- sort(union(stroop_acc$subject[stroop_acc$acc &lt; 0.80],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ts_acc$subject[ts_acc$acc &lt; 0.80]))</a:t>
              </a:r>
            </a:p>
            <a:p>
              <a:endParaRPr lang="zh-CN" altLang="zh-CN" sz="2200" dirty="0">
                <a:solidFill>
                  <a:schemeClr val="bg1"/>
                </a:solidFill>
              </a:endParaRP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stroop &lt;- filter(stroop, !subject %in% excl_low_acc)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ts_raw &lt;- filter(ts_raw, !subject %in% excl_low_acc)</a:t>
              </a:r>
            </a:p>
            <a:p>
              <a:endParaRPr lang="zh-CN" altLang="zh-CN" sz="2200" dirty="0">
                <a:solidFill>
                  <a:schemeClr val="bg1"/>
                </a:solidFill>
              </a:endParaRPr>
            </a:p>
            <a:p>
              <a:endParaRPr lang="en" altLang="zh-CN" sz="22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5">
            <a:extLst>
              <a:ext uri="{FF2B5EF4-FFF2-40B4-BE49-F238E27FC236}">
                <a16:creationId xmlns:a16="http://schemas.microsoft.com/office/drawing/2014/main" id="{DDD1ABA0-E7A1-2DDC-6CF3-BE7D3ABC6392}"/>
              </a:ext>
            </a:extLst>
          </p:cNvPr>
          <p:cNvSpPr txBox="1"/>
          <p:nvPr/>
        </p:nvSpPr>
        <p:spPr>
          <a:xfrm>
            <a:off x="813390" y="895247"/>
            <a:ext cx="15087600" cy="421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① </a:t>
            </a:r>
            <a:r>
              <a:rPr sz="2800" b="1" dirty="0" err="1">
                <a:solidFill>
                  <a:srgbClr val="E2869C"/>
                </a:solidFill>
                <a:latin typeface="Microsoft YaHei"/>
                <a:ea typeface="Microsoft YaHei"/>
              </a:rPr>
              <a:t>数据预处理</a:t>
            </a: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-------------53 participants</a:t>
            </a:r>
            <a:endParaRPr sz="2800" b="1" dirty="0">
              <a:solidFill>
                <a:srgbClr val="E2869C"/>
              </a:solidFill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281437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2" name="object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9945" y="-4812"/>
            <a:ext cx="8529767" cy="7577917"/>
          </a:xfrm>
          <a:prstGeom prst="rect">
            <a:avLst/>
          </a:prstGeom>
        </p:spPr>
      </p:pic>
      <p:graphicFrame>
        <p:nvGraphicFramePr>
          <p:cNvPr id="5" name="object 5"/>
          <p:cNvGraphicFramePr/>
          <p:nvPr>
            <p:extLst>
              <p:ext uri="{D42A27DB-BD31-4B8C-83A1-F6EECF244321}">
                <p14:modId xmlns:p14="http://schemas.microsoft.com/office/powerpoint/2010/main" val="1956328615"/>
              </p:ext>
            </p:extLst>
          </p:nvPr>
        </p:nvGraphicFramePr>
        <p:xfrm>
          <a:off x="736303" y="1841098"/>
          <a:ext cx="16815391" cy="732455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246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26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5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65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endParaRPr lang="zh-CN" sz="28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1" dirty="0">
                          <a:solidFill>
                            <a:schemeClr val="bg1"/>
                          </a:solidFill>
                          <a:effectLst/>
                        </a:rPr>
                        <a:t>本次结果</a:t>
                      </a:r>
                      <a:endParaRPr lang="zh-CN" sz="28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1">
                          <a:solidFill>
                            <a:schemeClr val="bg1"/>
                          </a:solidFill>
                          <a:effectLst/>
                        </a:rPr>
                        <a:t>说明</a:t>
                      </a:r>
                      <a:endParaRPr lang="zh-CN" sz="28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85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>
                          <a:solidFill>
                            <a:schemeClr val="bg1"/>
                          </a:solidFill>
                          <a:effectLst/>
                        </a:rPr>
                        <a:t>Stroop 原始文件数</a:t>
                      </a:r>
                      <a:endParaRPr lang="zh-CN" sz="28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>
                          <a:solidFill>
                            <a:schemeClr val="bg1"/>
                          </a:solidFill>
                          <a:effectLst/>
                        </a:rPr>
                        <a:t>58</a:t>
                      </a:r>
                      <a:endParaRPr lang="zh-CN" sz="28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effectLst/>
                        </a:rPr>
                        <a:t>文献报告招募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effectLst/>
                        </a:rPr>
                        <a:t>54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effectLst/>
                        </a:rPr>
                        <a:t>名被试</a:t>
                      </a:r>
                      <a:endParaRPr lang="zh-CN" sz="28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233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 dirty="0">
                          <a:solidFill>
                            <a:schemeClr val="bg1"/>
                          </a:solidFill>
                          <a:effectLst/>
                        </a:rPr>
                        <a:t>Task-switching </a:t>
                      </a:r>
                      <a:r>
                        <a:rPr lang="zh-CN" altLang="en-US" sz="2800" b="0" dirty="0">
                          <a:solidFill>
                            <a:schemeClr val="bg1"/>
                          </a:solidFill>
                          <a:effectLst/>
                        </a:rPr>
                        <a:t>原始文件数</a:t>
                      </a:r>
                      <a:endParaRPr lang="zh-CN" sz="28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>
                          <a:solidFill>
                            <a:schemeClr val="bg1"/>
                          </a:solidFill>
                          <a:effectLst/>
                        </a:rPr>
                        <a:t>62</a:t>
                      </a:r>
                      <a:endParaRPr lang="zh-CN" sz="28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zh-CN" sz="28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85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>
                          <a:solidFill>
                            <a:schemeClr val="bg1"/>
                          </a:solidFill>
                          <a:effectLst/>
                        </a:rPr>
                        <a:t>问卷行数</a:t>
                      </a:r>
                      <a:endParaRPr lang="zh-CN" sz="28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>
                          <a:solidFill>
                            <a:schemeClr val="bg1"/>
                          </a:solidFill>
                          <a:effectLst/>
                        </a:rPr>
                        <a:t>56</a:t>
                      </a:r>
                      <a:endParaRPr lang="zh-CN" sz="28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effectLst/>
                        </a:rPr>
                        <a:t>被试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effectLst/>
                        </a:rPr>
                        <a:t>58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effectLst/>
                        </a:rPr>
                        <a:t>，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effectLst/>
                        </a:rPr>
                        <a:t>59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effectLst/>
                        </a:rPr>
                        <a:t>没有数据</a:t>
                      </a:r>
                      <a:endParaRPr lang="zh-CN" sz="28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546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 dirty="0">
                          <a:solidFill>
                            <a:schemeClr val="bg1"/>
                          </a:solidFill>
                          <a:effectLst/>
                        </a:rPr>
                        <a:t>三源完整</a:t>
                      </a:r>
                      <a:r>
                        <a:rPr lang="zh-CN" altLang="en-US" sz="2800" b="0" dirty="0">
                          <a:solidFill>
                            <a:schemeClr val="bg1"/>
                          </a:solidFill>
                          <a:effectLst/>
                        </a:rPr>
                        <a:t>文件数</a:t>
                      </a:r>
                      <a:endParaRPr lang="zh-CN" sz="28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 dirty="0">
                          <a:solidFill>
                            <a:schemeClr val="bg1"/>
                          </a:solidFill>
                          <a:effectLst/>
                        </a:rPr>
                        <a:t>56</a:t>
                      </a:r>
                      <a:endParaRPr lang="zh-CN" sz="28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 dirty="0">
                          <a:solidFill>
                            <a:schemeClr val="bg1"/>
                          </a:solidFill>
                          <a:effectLst/>
                        </a:rPr>
                        <a:t>同时有 Stroop、task-switching 和问卷（NFC）数据</a:t>
                      </a:r>
                      <a:endParaRPr lang="zh-CN" sz="28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85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>
                          <a:solidFill>
                            <a:schemeClr val="bg1"/>
                          </a:solidFill>
                          <a:effectLst/>
                        </a:rPr>
                        <a:t>因正确率 &lt; 80% 排除</a:t>
                      </a:r>
                      <a:endParaRPr lang="zh-CN" sz="28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zh-CN" sz="28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>
                          <a:solidFill>
                            <a:schemeClr val="bg1"/>
                          </a:solidFill>
                          <a:effectLst/>
                        </a:rPr>
                        <a:t>被试 15, 20, 23, 61, 63</a:t>
                      </a:r>
                      <a:endParaRPr lang="zh-CN" sz="28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546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>
                          <a:solidFill>
                            <a:schemeClr val="bg1"/>
                          </a:solidFill>
                          <a:effectLst/>
                        </a:rPr>
                        <a:t>因漏答 ≥ 15 次排除</a:t>
                      </a:r>
                      <a:endParaRPr lang="zh-CN" sz="28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zh-CN" sz="28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 dirty="0">
                          <a:solidFill>
                            <a:schemeClr val="bg1"/>
                          </a:solidFill>
                          <a:effectLst/>
                        </a:rPr>
                        <a:t>本数据集任一 block 漏答最多 12 次，无人达到阈值</a:t>
                      </a:r>
                      <a:endParaRPr lang="zh-CN" sz="28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185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>
                          <a:solidFill>
                            <a:schemeClr val="bg1"/>
                          </a:solidFill>
                          <a:effectLst/>
                        </a:rPr>
                        <a:t>实际排除总数</a:t>
                      </a:r>
                      <a:endParaRPr lang="zh-CN" sz="28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zh-CN" sz="28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 dirty="0">
                          <a:solidFill>
                            <a:schemeClr val="bg1"/>
                          </a:solidFill>
                          <a:effectLst/>
                        </a:rPr>
                        <a:t>被试 15, 20, 23, 61, 63</a:t>
                      </a:r>
                      <a:endParaRPr lang="zh-CN" sz="28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0546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 dirty="0">
                          <a:solidFill>
                            <a:schemeClr val="bg1"/>
                          </a:solidFill>
                          <a:effectLst/>
                        </a:rPr>
                        <a:t>保留被试数（本次）</a:t>
                      </a:r>
                      <a:endParaRPr lang="zh-CN" sz="28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en-US" altLang="zh-CN" sz="28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</a:t>
                      </a:r>
                      <a:endParaRPr lang="zh-CN" altLang="en-US" sz="28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" altLang="zh-CN" sz="28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NFC </a:t>
                      </a:r>
                      <a:r>
                        <a:rPr lang="zh-CN" altLang="en-US" sz="28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模型保留 </a:t>
                      </a:r>
                      <a:r>
                        <a:rPr lang="en-US" altLang="zh-CN" sz="28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 </a:t>
                      </a:r>
                      <a:r>
                        <a:rPr lang="zh-CN" altLang="en-US" sz="28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名</a:t>
                      </a: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altLang="en-US" sz="2800" b="0" dirty="0">
                          <a:solidFill>
                            <a:schemeClr val="bg1"/>
                          </a:solidFill>
                          <a:effectLst/>
                        </a:rPr>
                        <a:t>文献</a:t>
                      </a:r>
                      <a:r>
                        <a:rPr lang="zh-CN" sz="2800" b="0" dirty="0">
                          <a:solidFill>
                            <a:schemeClr val="bg1"/>
                          </a:solidFill>
                          <a:effectLst/>
                        </a:rPr>
                        <a:t>报告保留被试数</a:t>
                      </a:r>
                      <a:endParaRPr lang="zh-CN" sz="28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sz="2800" b="0" dirty="0">
                          <a:solidFill>
                            <a:schemeClr val="bg1"/>
                          </a:solidFill>
                          <a:effectLst/>
                        </a:rPr>
                        <a:t>45</a:t>
                      </a:r>
                      <a:endParaRPr lang="zh-CN" sz="28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8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因错误率剔除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名，漏答剔除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名，后续分析剔除无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NFC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问卷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名</a:t>
                      </a:r>
                    </a:p>
                  </a:txBody>
                  <a:tcPr marL="63500" marR="63500" marT="38100" marB="38100" anchor="ctr">
                    <a:solidFill>
                      <a:srgbClr val="2E1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TextBox 2">
            <a:extLst>
              <a:ext uri="{FF2B5EF4-FFF2-40B4-BE49-F238E27FC236}">
                <a16:creationId xmlns:a16="http://schemas.microsoft.com/office/drawing/2014/main" id="{1675BE92-85C0-851F-74E9-59AB52410131}"/>
              </a:ext>
            </a:extLst>
          </p:cNvPr>
          <p:cNvSpPr txBox="1"/>
          <p:nvPr/>
        </p:nvSpPr>
        <p:spPr>
          <a:xfrm>
            <a:off x="206271" y="180753"/>
            <a:ext cx="8150919" cy="33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dirty="0">
                <a:solidFill>
                  <a:schemeClr val="bg1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3</a:t>
            </a:r>
            <a:r>
              <a:rPr lang="zh-CN" altLang="en-US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 数据处理</a:t>
            </a:r>
            <a:endParaRPr sz="2200" b="1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AE19D7B8-8FCC-8297-3A59-F6E6F9BF2DA4}"/>
              </a:ext>
            </a:extLst>
          </p:cNvPr>
          <p:cNvSpPr txBox="1"/>
          <p:nvPr/>
        </p:nvSpPr>
        <p:spPr>
          <a:xfrm>
            <a:off x="813390" y="1121352"/>
            <a:ext cx="15087600" cy="421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① </a:t>
            </a:r>
            <a:r>
              <a:rPr sz="2800" b="1" dirty="0" err="1">
                <a:solidFill>
                  <a:srgbClr val="E2869C"/>
                </a:solidFill>
                <a:latin typeface="Microsoft YaHei"/>
                <a:ea typeface="Microsoft YaHei"/>
              </a:rPr>
              <a:t>数据预处理</a:t>
            </a: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-------------53 participants</a:t>
            </a:r>
            <a:endParaRPr sz="2800" b="1" dirty="0">
              <a:solidFill>
                <a:srgbClr val="E2869C"/>
              </a:solidFill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678987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DF428-CDDA-28FA-CCA7-858078441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C37758B1-6954-6A8D-1494-AAD2DB9FD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92"/>
            <a:ext cx="18287999" cy="10286999"/>
          </a:xfrm>
          <a:prstGeom prst="rect">
            <a:avLst/>
          </a:prstGeom>
        </p:spPr>
      </p:pic>
      <p:pic>
        <p:nvPicPr>
          <p:cNvPr id="10" name="object 3">
            <a:extLst>
              <a:ext uri="{FF2B5EF4-FFF2-40B4-BE49-F238E27FC236}">
                <a16:creationId xmlns:a16="http://schemas.microsoft.com/office/drawing/2014/main" id="{4F212587-B720-C084-CEDD-F5432DE0E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8120" y="6201918"/>
            <a:ext cx="3219878" cy="4084989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3EAE7480-DEA7-2E51-FB11-695B8EFE7ACE}"/>
              </a:ext>
            </a:extLst>
          </p:cNvPr>
          <p:cNvSpPr txBox="1"/>
          <p:nvPr/>
        </p:nvSpPr>
        <p:spPr>
          <a:xfrm>
            <a:off x="206271" y="180753"/>
            <a:ext cx="8150919" cy="33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dirty="0">
                <a:solidFill>
                  <a:schemeClr val="bg1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3</a:t>
            </a:r>
            <a:r>
              <a:rPr lang="zh-CN" altLang="en-US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 结果复现</a:t>
            </a:r>
            <a:endParaRPr sz="2200" b="1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308B9BF-FE5E-BC22-0BFF-4583A909D9D5}"/>
              </a:ext>
            </a:extLst>
          </p:cNvPr>
          <p:cNvGrpSpPr/>
          <p:nvPr/>
        </p:nvGrpSpPr>
        <p:grpSpPr>
          <a:xfrm>
            <a:off x="719334" y="1547376"/>
            <a:ext cx="16849328" cy="3858441"/>
            <a:chOff x="719334" y="1892594"/>
            <a:chExt cx="16849328" cy="3858441"/>
          </a:xfrm>
        </p:grpSpPr>
        <p:sp>
          <p:nvSpPr>
            <p:cNvPr id="17" name="Rounded Rectangle 4">
              <a:extLst>
                <a:ext uri="{FF2B5EF4-FFF2-40B4-BE49-F238E27FC236}">
                  <a16:creationId xmlns:a16="http://schemas.microsoft.com/office/drawing/2014/main" id="{CF65C2DB-E526-90A2-7C7C-EB6A9A5B90BF}"/>
                </a:ext>
              </a:extLst>
            </p:cNvPr>
            <p:cNvSpPr/>
            <p:nvPr/>
          </p:nvSpPr>
          <p:spPr>
            <a:xfrm>
              <a:off x="719334" y="1892594"/>
              <a:ext cx="16849328" cy="3858441"/>
            </a:xfrm>
            <a:prstGeom prst="roundRect">
              <a:avLst/>
            </a:prstGeom>
            <a:solidFill>
              <a:srgbClr val="200B18"/>
            </a:solidFill>
            <a:ln w="12700">
              <a:solidFill>
                <a:srgbClr val="7A2A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4FC4793-286A-B90F-EE59-11874DAB23FF}"/>
                </a:ext>
              </a:extLst>
            </p:cNvPr>
            <p:cNvSpPr txBox="1"/>
            <p:nvPr/>
          </p:nvSpPr>
          <p:spPr>
            <a:xfrm>
              <a:off x="1517450" y="2036549"/>
              <a:ext cx="11420144" cy="3570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en" altLang="zh-CN" sz="2200" dirty="0">
                  <a:solidFill>
                    <a:srgbClr val="C6A4B5"/>
                  </a:solidFill>
                  <a:latin typeface="Consolas"/>
                </a:rPr>
                <a:t># Stroop</a:t>
              </a:r>
              <a:r>
                <a:rPr lang="zh-CN" altLang="en" sz="2200" dirty="0">
                  <a:solidFill>
                    <a:srgbClr val="C6A4B5"/>
                  </a:solidFill>
                  <a:latin typeface="Consolas"/>
                </a:rPr>
                <a:t>：</a:t>
              </a: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按一致性分条件</a:t>
              </a:r>
            </a:p>
            <a:p>
              <a:endParaRPr lang="en-US" altLang="zh-CN" sz="2200" dirty="0">
                <a:solidFill>
                  <a:schemeClr val="bg1"/>
                </a:solidFill>
              </a:endParaRP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stroop_correct &lt;- stroop %&gt;% filter(correct == 1, !is.na(rt_ms))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table1_stroop_rt &lt;- stroop_correct %&gt;%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group_by(subject, congruent) %&gt;% summarise(med = median(rt_ms), .groups = "drop") %&gt;%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group_by(congruent) %&gt;% summarise(RT_mean = mean(med), RT_sd = sd(med), .groups = "drop")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table1_stroop_acc &lt;- stroop %&gt;%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group_by(subject, congruent) %&gt;% summarise(a = mean(correct), .groups = "drop") %&gt;%</a:t>
              </a: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group_by(congruent) %&gt;% summarise(ACC_mean = mean(a), ACC_sd = sd(a), .groups = "drop")</a:t>
              </a:r>
            </a:p>
            <a:p>
              <a:endParaRPr lang="zh-CN" altLang="zh-CN" sz="2200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TextBox 8">
            <a:extLst>
              <a:ext uri="{FF2B5EF4-FFF2-40B4-BE49-F238E27FC236}">
                <a16:creationId xmlns:a16="http://schemas.microsoft.com/office/drawing/2014/main" id="{5D6DDF74-B747-9576-C56C-DCDF6FB16DCA}"/>
              </a:ext>
            </a:extLst>
          </p:cNvPr>
          <p:cNvSpPr txBox="1"/>
          <p:nvPr/>
        </p:nvSpPr>
        <p:spPr>
          <a:xfrm>
            <a:off x="1243693" y="818924"/>
            <a:ext cx="10850738" cy="421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② 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描述统计</a:t>
            </a: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------- Table 1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复现</a:t>
            </a:r>
            <a:endParaRPr sz="2800" b="1" dirty="0">
              <a:solidFill>
                <a:srgbClr val="E2869C"/>
              </a:solidFill>
              <a:latin typeface="Microsoft YaHei"/>
              <a:ea typeface="Microsoft YaHei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3DB688A-3154-9F26-B715-CFCECBB8468A}"/>
              </a:ext>
            </a:extLst>
          </p:cNvPr>
          <p:cNvGrpSpPr/>
          <p:nvPr/>
        </p:nvGrpSpPr>
        <p:grpSpPr>
          <a:xfrm>
            <a:off x="719334" y="5917141"/>
            <a:ext cx="16849328" cy="3858441"/>
            <a:chOff x="719334" y="6057961"/>
            <a:chExt cx="16849328" cy="3858441"/>
          </a:xfrm>
        </p:grpSpPr>
        <p:sp>
          <p:nvSpPr>
            <p:cNvPr id="2" name="Rounded Rectangle 4">
              <a:extLst>
                <a:ext uri="{FF2B5EF4-FFF2-40B4-BE49-F238E27FC236}">
                  <a16:creationId xmlns:a16="http://schemas.microsoft.com/office/drawing/2014/main" id="{793DEEC7-A14A-448E-364C-A148E847D562}"/>
                </a:ext>
              </a:extLst>
            </p:cNvPr>
            <p:cNvSpPr/>
            <p:nvPr/>
          </p:nvSpPr>
          <p:spPr>
            <a:xfrm>
              <a:off x="719334" y="6057961"/>
              <a:ext cx="16849328" cy="3858441"/>
            </a:xfrm>
            <a:prstGeom prst="roundRect">
              <a:avLst/>
            </a:prstGeom>
            <a:solidFill>
              <a:srgbClr val="200B18"/>
            </a:solidFill>
            <a:ln w="12700">
              <a:solidFill>
                <a:srgbClr val="7A2A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7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6E478A9-3692-8EC5-ECE5-0AAD9FD5F121}"/>
                </a:ext>
              </a:extLst>
            </p:cNvPr>
            <p:cNvSpPr txBox="1"/>
            <p:nvPr/>
          </p:nvSpPr>
          <p:spPr>
            <a:xfrm>
              <a:off x="1243693" y="6345873"/>
              <a:ext cx="14226993" cy="3570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en" altLang="zh-CN" sz="2200" dirty="0">
                  <a:solidFill>
                    <a:srgbClr val="C6A4B5"/>
                  </a:solidFill>
                  <a:latin typeface="Consolas"/>
                </a:rPr>
                <a:t># task-switching</a:t>
              </a:r>
              <a:r>
                <a:rPr lang="zh-CN" altLang="en" sz="2200" dirty="0">
                  <a:solidFill>
                    <a:srgbClr val="C6A4B5"/>
                  </a:solidFill>
                  <a:latin typeface="Consolas"/>
                </a:rPr>
                <a:t>：</a:t>
              </a: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按奖赏 </a:t>
              </a:r>
              <a:r>
                <a:rPr lang="en-US" altLang="zh-CN" sz="2200" dirty="0">
                  <a:solidFill>
                    <a:srgbClr val="C6A4B5"/>
                  </a:solidFill>
                  <a:latin typeface="Consolas"/>
                </a:rPr>
                <a:t>× </a:t>
              </a: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试次类型分条件</a:t>
              </a:r>
            </a:p>
            <a:p>
              <a:endParaRPr lang="en-US" altLang="zh-CN" sz="2200" dirty="0">
                <a:solidFill>
                  <a:schemeClr val="bg1"/>
                </a:solidFill>
              </a:endParaRPr>
            </a:p>
            <a:p>
              <a:r>
                <a:rPr lang="en" altLang="zh-CN" sz="2200" dirty="0" err="1">
                  <a:solidFill>
                    <a:schemeClr val="bg1"/>
                  </a:solidFill>
                </a:rPr>
                <a:t>ts_corr</a:t>
              </a:r>
              <a:r>
                <a:rPr lang="en" altLang="zh-CN" sz="2200" dirty="0">
                  <a:solidFill>
                    <a:schemeClr val="bg1"/>
                  </a:solidFill>
                </a:rPr>
                <a:t> &lt;-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ts_raw</a:t>
              </a:r>
              <a:r>
                <a:rPr lang="en" altLang="zh-CN" sz="2200" dirty="0">
                  <a:solidFill>
                    <a:schemeClr val="bg1"/>
                  </a:solidFill>
                </a:rPr>
                <a:t> %&gt;% filter(correct == 1, !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is.na</a:t>
              </a:r>
              <a:r>
                <a:rPr lang="en" altLang="zh-CN" sz="2200" dirty="0">
                  <a:solidFill>
                    <a:schemeClr val="bg1"/>
                  </a:solidFill>
                </a:rPr>
                <a:t>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rt_ms</a:t>
              </a:r>
              <a:r>
                <a:rPr lang="en" altLang="zh-CN" sz="2200" dirty="0">
                  <a:solidFill>
                    <a:schemeClr val="bg1"/>
                  </a:solidFill>
                </a:rPr>
                <a:t>), !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is.na</a:t>
              </a:r>
              <a:r>
                <a:rPr lang="en" altLang="zh-CN" sz="2200" dirty="0">
                  <a:solidFill>
                    <a:schemeClr val="bg1"/>
                  </a:solidFill>
                </a:rPr>
                <a:t>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trial_type</a:t>
              </a:r>
              <a:r>
                <a:rPr lang="en" altLang="zh-CN" sz="2200" dirty="0">
                  <a:solidFill>
                    <a:schemeClr val="bg1"/>
                  </a:solidFill>
                </a:rPr>
                <a:t>))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table1_ts_rt &lt;-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ts_corr</a:t>
              </a:r>
              <a:r>
                <a:rPr lang="en" altLang="zh-CN" sz="2200" dirty="0">
                  <a:solidFill>
                    <a:schemeClr val="bg1"/>
                  </a:solidFill>
                </a:rPr>
                <a:t> %&gt;%</a:t>
              </a:r>
            </a:p>
            <a:p>
              <a:r>
                <a:rPr lang="en" altLang="zh-CN" sz="2200" dirty="0" err="1">
                  <a:solidFill>
                    <a:schemeClr val="bg1"/>
                  </a:solidFill>
                </a:rPr>
                <a:t>group_by</a:t>
              </a:r>
              <a:r>
                <a:rPr lang="en" altLang="zh-CN" sz="2200" dirty="0">
                  <a:solidFill>
                    <a:schemeClr val="bg1"/>
                  </a:solidFill>
                </a:rPr>
                <a:t>(subject, reward,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trial_type</a:t>
              </a:r>
              <a:r>
                <a:rPr lang="en" altLang="zh-CN" sz="2200" dirty="0">
                  <a:solidFill>
                    <a:schemeClr val="bg1"/>
                  </a:solidFill>
                </a:rPr>
                <a:t>) %&gt;%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summarise</a:t>
              </a:r>
              <a:r>
                <a:rPr lang="en" altLang="zh-CN" sz="2200" dirty="0">
                  <a:solidFill>
                    <a:schemeClr val="bg1"/>
                  </a:solidFill>
                </a:rPr>
                <a:t>(med = median(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rt_ms</a:t>
              </a:r>
              <a:r>
                <a:rPr lang="en" altLang="zh-CN" sz="2200" dirty="0">
                  <a:solidFill>
                    <a:schemeClr val="bg1"/>
                  </a:solidFill>
                </a:rPr>
                <a:t>), .groups = "drop") %&gt;%</a:t>
              </a:r>
            </a:p>
            <a:p>
              <a:r>
                <a:rPr lang="en" altLang="zh-CN" sz="2200" dirty="0" err="1">
                  <a:solidFill>
                    <a:schemeClr val="bg1"/>
                  </a:solidFill>
                </a:rPr>
                <a:t>group_by</a:t>
              </a:r>
              <a:r>
                <a:rPr lang="en" altLang="zh-CN" sz="2200" dirty="0">
                  <a:solidFill>
                    <a:schemeClr val="bg1"/>
                  </a:solidFill>
                </a:rPr>
                <a:t>(reward,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trial_type</a:t>
              </a:r>
              <a:r>
                <a:rPr lang="en" altLang="zh-CN" sz="2200" dirty="0">
                  <a:solidFill>
                    <a:schemeClr val="bg1"/>
                  </a:solidFill>
                </a:rPr>
                <a:t>) %&gt;%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summarise</a:t>
              </a:r>
              <a:r>
                <a:rPr lang="en" altLang="zh-CN" sz="2200" dirty="0">
                  <a:solidFill>
                    <a:schemeClr val="bg1"/>
                  </a:solidFill>
                </a:rPr>
                <a:t>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RT_mean</a:t>
              </a:r>
              <a:r>
                <a:rPr lang="en" altLang="zh-CN" sz="2200" dirty="0">
                  <a:solidFill>
                    <a:schemeClr val="bg1"/>
                  </a:solidFill>
                </a:rPr>
                <a:t> = mean(med),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RT_sd</a:t>
              </a:r>
              <a:r>
                <a:rPr lang="en" altLang="zh-CN" sz="2200" dirty="0">
                  <a:solidFill>
                    <a:schemeClr val="bg1"/>
                  </a:solidFill>
                </a:rPr>
                <a:t> =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sd</a:t>
              </a:r>
              <a:r>
                <a:rPr lang="en" altLang="zh-CN" sz="2200" dirty="0">
                  <a:solidFill>
                    <a:schemeClr val="bg1"/>
                  </a:solidFill>
                </a:rPr>
                <a:t>(med), .groups = "drop")</a:t>
              </a:r>
            </a:p>
            <a:p>
              <a:r>
                <a:rPr lang="en" altLang="zh-CN" sz="2200" dirty="0">
                  <a:solidFill>
                    <a:schemeClr val="bg1"/>
                  </a:solidFill>
                </a:rPr>
                <a:t>table1_ts_acc &lt;-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ts_raw</a:t>
              </a:r>
              <a:r>
                <a:rPr lang="en" altLang="zh-CN" sz="2200" dirty="0">
                  <a:solidFill>
                    <a:schemeClr val="bg1"/>
                  </a:solidFill>
                </a:rPr>
                <a:t> %&gt;% filter(!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is.na</a:t>
              </a:r>
              <a:r>
                <a:rPr lang="en" altLang="zh-CN" sz="2200" dirty="0">
                  <a:solidFill>
                    <a:schemeClr val="bg1"/>
                  </a:solidFill>
                </a:rPr>
                <a:t>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trial_type</a:t>
              </a:r>
              <a:r>
                <a:rPr lang="en" altLang="zh-CN" sz="2200" dirty="0">
                  <a:solidFill>
                    <a:schemeClr val="bg1"/>
                  </a:solidFill>
                </a:rPr>
                <a:t>)) %&gt;%</a:t>
              </a:r>
            </a:p>
            <a:p>
              <a:r>
                <a:rPr lang="en" altLang="zh-CN" sz="2200" dirty="0" err="1">
                  <a:solidFill>
                    <a:schemeClr val="bg1"/>
                  </a:solidFill>
                </a:rPr>
                <a:t>group_by</a:t>
              </a:r>
              <a:r>
                <a:rPr lang="en" altLang="zh-CN" sz="2200" dirty="0">
                  <a:solidFill>
                    <a:schemeClr val="bg1"/>
                  </a:solidFill>
                </a:rPr>
                <a:t>(subject, reward,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trial_type</a:t>
              </a:r>
              <a:r>
                <a:rPr lang="en" altLang="zh-CN" sz="2200" dirty="0">
                  <a:solidFill>
                    <a:schemeClr val="bg1"/>
                  </a:solidFill>
                </a:rPr>
                <a:t>) %&gt;%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summarise</a:t>
              </a:r>
              <a:r>
                <a:rPr lang="en" altLang="zh-CN" sz="2200" dirty="0">
                  <a:solidFill>
                    <a:schemeClr val="bg1"/>
                  </a:solidFill>
                </a:rPr>
                <a:t>(a = mean(correct), .groups = "drop") %&gt;%</a:t>
              </a:r>
            </a:p>
            <a:p>
              <a:r>
                <a:rPr lang="en" altLang="zh-CN" sz="2200" dirty="0" err="1">
                  <a:solidFill>
                    <a:schemeClr val="bg1"/>
                  </a:solidFill>
                </a:rPr>
                <a:t>group_by</a:t>
              </a:r>
              <a:r>
                <a:rPr lang="en" altLang="zh-CN" sz="2200" dirty="0">
                  <a:solidFill>
                    <a:schemeClr val="bg1"/>
                  </a:solidFill>
                </a:rPr>
                <a:t>(reward,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trial_type</a:t>
              </a:r>
              <a:r>
                <a:rPr lang="en" altLang="zh-CN" sz="2200" dirty="0">
                  <a:solidFill>
                    <a:schemeClr val="bg1"/>
                  </a:solidFill>
                </a:rPr>
                <a:t>) %&gt;%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summarise</a:t>
              </a:r>
              <a:r>
                <a:rPr lang="en" altLang="zh-CN" sz="2200" dirty="0">
                  <a:solidFill>
                    <a:schemeClr val="bg1"/>
                  </a:solidFill>
                </a:rPr>
                <a:t>(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ACC_mean</a:t>
              </a:r>
              <a:r>
                <a:rPr lang="en" altLang="zh-CN" sz="2200" dirty="0">
                  <a:solidFill>
                    <a:schemeClr val="bg1"/>
                  </a:solidFill>
                </a:rPr>
                <a:t> = mean(a),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ACC_sd</a:t>
              </a:r>
              <a:r>
                <a:rPr lang="en" altLang="zh-CN" sz="2200" dirty="0">
                  <a:solidFill>
                    <a:schemeClr val="bg1"/>
                  </a:solidFill>
                </a:rPr>
                <a:t> = </a:t>
              </a:r>
              <a:r>
                <a:rPr lang="en" altLang="zh-CN" sz="2200" dirty="0" err="1">
                  <a:solidFill>
                    <a:schemeClr val="bg1"/>
                  </a:solidFill>
                </a:rPr>
                <a:t>sd</a:t>
              </a:r>
              <a:r>
                <a:rPr lang="en" altLang="zh-CN" sz="2200" dirty="0">
                  <a:solidFill>
                    <a:schemeClr val="bg1"/>
                  </a:solidFill>
                </a:rPr>
                <a:t>(a), .groups = "drop")</a:t>
              </a:r>
            </a:p>
            <a:p>
              <a:endParaRPr lang="zh-CN" altLang="zh-CN" sz="2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4592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882FC-1C2D-CAE2-CD81-E26E9F058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A9E8DD39-9288-B0EB-1095-04ED114A4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92"/>
            <a:ext cx="18287999" cy="10286999"/>
          </a:xfrm>
          <a:prstGeom prst="rect">
            <a:avLst/>
          </a:prstGeom>
        </p:spPr>
      </p:pic>
      <p:pic>
        <p:nvPicPr>
          <p:cNvPr id="10" name="object 3">
            <a:extLst>
              <a:ext uri="{FF2B5EF4-FFF2-40B4-BE49-F238E27FC236}">
                <a16:creationId xmlns:a16="http://schemas.microsoft.com/office/drawing/2014/main" id="{39A63394-5E4E-40C7-F167-E223D65D4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8120" y="6201918"/>
            <a:ext cx="3219878" cy="4084989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2B4C5577-656D-A7B8-DB0F-F0B268EF5C28}"/>
              </a:ext>
            </a:extLst>
          </p:cNvPr>
          <p:cNvSpPr txBox="1"/>
          <p:nvPr/>
        </p:nvSpPr>
        <p:spPr>
          <a:xfrm>
            <a:off x="206271" y="180753"/>
            <a:ext cx="8150919" cy="33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dirty="0">
                <a:solidFill>
                  <a:schemeClr val="bg1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3</a:t>
            </a:r>
            <a:r>
              <a:rPr lang="zh-CN" altLang="en-US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 结果复现</a:t>
            </a:r>
            <a:endParaRPr sz="2200" b="1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D77A363F-BFFE-B8D5-8FF0-4653396DAAA4}"/>
              </a:ext>
            </a:extLst>
          </p:cNvPr>
          <p:cNvSpPr txBox="1"/>
          <p:nvPr/>
        </p:nvSpPr>
        <p:spPr>
          <a:xfrm>
            <a:off x="1212112" y="1020185"/>
            <a:ext cx="10850738" cy="421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② 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描述统计</a:t>
            </a: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------- Table 1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复现</a:t>
            </a:r>
            <a:endParaRPr sz="2800" b="1" dirty="0">
              <a:solidFill>
                <a:srgbClr val="E2869C"/>
              </a:solidFill>
              <a:latin typeface="Microsoft YaHei"/>
              <a:ea typeface="Microsoft YaHei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4F28598-4603-04F4-E0BD-B5D4DC27B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0759"/>
              </p:ext>
            </p:extLst>
          </p:nvPr>
        </p:nvGraphicFramePr>
        <p:xfrm>
          <a:off x="1197054" y="1749900"/>
          <a:ext cx="15481005" cy="78536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5497521">
                  <a:extLst>
                    <a:ext uri="{9D8B030D-6E8A-4147-A177-3AD203B41FA5}">
                      <a16:colId xmlns:a16="http://schemas.microsoft.com/office/drawing/2014/main" val="514261767"/>
                    </a:ext>
                  </a:extLst>
                </a:gridCol>
                <a:gridCol w="2495871">
                  <a:extLst>
                    <a:ext uri="{9D8B030D-6E8A-4147-A177-3AD203B41FA5}">
                      <a16:colId xmlns:a16="http://schemas.microsoft.com/office/drawing/2014/main" val="323695270"/>
                    </a:ext>
                  </a:extLst>
                </a:gridCol>
                <a:gridCol w="2495871">
                  <a:extLst>
                    <a:ext uri="{9D8B030D-6E8A-4147-A177-3AD203B41FA5}">
                      <a16:colId xmlns:a16="http://schemas.microsoft.com/office/drawing/2014/main" val="317491432"/>
                    </a:ext>
                  </a:extLst>
                </a:gridCol>
                <a:gridCol w="2495871">
                  <a:extLst>
                    <a:ext uri="{9D8B030D-6E8A-4147-A177-3AD203B41FA5}">
                      <a16:colId xmlns:a16="http://schemas.microsoft.com/office/drawing/2014/main" val="2223571788"/>
                    </a:ext>
                  </a:extLst>
                </a:gridCol>
                <a:gridCol w="2495871">
                  <a:extLst>
                    <a:ext uri="{9D8B030D-6E8A-4147-A177-3AD203B41FA5}">
                      <a16:colId xmlns:a16="http://schemas.microsoft.com/office/drawing/2014/main" val="1699982026"/>
                    </a:ext>
                  </a:extLst>
                </a:gridCol>
              </a:tblGrid>
              <a:tr h="41546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RT (ms)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>
                          <a:effectLst/>
                          <a:latin typeface="+mn-ea"/>
                          <a:ea typeface="+mn-ea"/>
                        </a:rPr>
                        <a:t> Accuracy</a:t>
                      </a:r>
                      <a:endParaRPr lang="zh-CN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633239"/>
                  </a:ext>
                </a:extLst>
              </a:tr>
              <a:tr h="455999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zh-CN" sz="24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</a:p>
                  </a:txBody>
                  <a:tcPr marL="6350" marR="635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M</a:t>
                      </a:r>
                      <a:r>
                        <a:rPr lang="en-US" altLang="zh-CN" sz="2400" b="1" dirty="0" err="1">
                          <a:effectLst/>
                          <a:latin typeface="+mn-ea"/>
                          <a:ea typeface="+mn-ea"/>
                        </a:rPr>
                        <a:t>ean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SD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M</a:t>
                      </a:r>
                      <a:r>
                        <a:rPr lang="en-US" altLang="zh-CN" sz="2400" b="1" dirty="0" err="1">
                          <a:effectLst/>
                          <a:latin typeface="+mn-ea"/>
                          <a:ea typeface="+mn-ea"/>
                        </a:rPr>
                        <a:t>ean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SD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243184"/>
                  </a:ext>
                </a:extLst>
              </a:tr>
              <a:tr h="415466">
                <a:tc gridSpan="5"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Stroop task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050898"/>
                  </a:ext>
                </a:extLst>
              </a:tr>
              <a:tr h="415466">
                <a:tc>
                  <a:txBody>
                    <a:bodyPr/>
                    <a:lstStyle/>
                    <a:p>
                      <a:pPr marL="114300" marR="0" algn="l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Congruent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>
                          <a:effectLst/>
                          <a:latin typeface="+mn-ea"/>
                          <a:ea typeface="+mn-ea"/>
                        </a:rPr>
                        <a:t>579.710</a:t>
                      </a:r>
                      <a:endParaRPr lang="zh-CN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>
                          <a:effectLst/>
                          <a:latin typeface="+mn-ea"/>
                          <a:ea typeface="+mn-ea"/>
                        </a:rPr>
                        <a:t>78.500</a:t>
                      </a:r>
                      <a:endParaRPr lang="zh-CN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>
                          <a:effectLst/>
                          <a:latin typeface="+mn-ea"/>
                          <a:ea typeface="+mn-ea"/>
                        </a:rPr>
                        <a:t>0.975</a:t>
                      </a:r>
                      <a:endParaRPr lang="zh-CN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0.023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746415"/>
                  </a:ext>
                </a:extLst>
              </a:tr>
              <a:tr h="415466">
                <a:tc>
                  <a:txBody>
                    <a:bodyPr/>
                    <a:lstStyle/>
                    <a:p>
                      <a:pPr marL="114300" marR="0" algn="l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Congruent （复现）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i="0" dirty="0">
                          <a:effectLst/>
                          <a:latin typeface="+mn-ea"/>
                          <a:ea typeface="+mn-ea"/>
                        </a:rPr>
                        <a:t>557.475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i="0" dirty="0">
                          <a:effectLst/>
                          <a:latin typeface="+mn-ea"/>
                          <a:ea typeface="+mn-ea"/>
                        </a:rPr>
                        <a:t>69.327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i="0" dirty="0">
                          <a:effectLst/>
                          <a:latin typeface="+mn-ea"/>
                          <a:ea typeface="+mn-ea"/>
                        </a:rPr>
                        <a:t>0.971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i="0" dirty="0">
                          <a:effectLst/>
                          <a:latin typeface="+mn-ea"/>
                          <a:ea typeface="+mn-ea"/>
                        </a:rPr>
                        <a:t>0.024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283920"/>
                  </a:ext>
                </a:extLst>
              </a:tr>
              <a:tr h="415466">
                <a:tc>
                  <a:txBody>
                    <a:bodyPr/>
                    <a:lstStyle/>
                    <a:p>
                      <a:pPr marL="114300" marR="0" algn="l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Incongruent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>
                          <a:effectLst/>
                          <a:latin typeface="+mn-ea"/>
                          <a:ea typeface="+mn-ea"/>
                        </a:rPr>
                        <a:t>697.560</a:t>
                      </a:r>
                      <a:endParaRPr lang="zh-CN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132.620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0.903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0.080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597893"/>
                  </a:ext>
                </a:extLst>
              </a:tr>
              <a:tr h="415466">
                <a:tc>
                  <a:txBody>
                    <a:bodyPr/>
                    <a:lstStyle/>
                    <a:p>
                      <a:pPr marL="114300" marR="0" algn="l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Incongruent （复现）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691.220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144.717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0.881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0.093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050412"/>
                  </a:ext>
                </a:extLst>
              </a:tr>
              <a:tr h="780265">
                <a:tc gridSpan="5"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l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Task-switching</a:t>
                      </a:r>
                      <a:r>
                        <a:rPr lang="en-US" altLang="zh-CN" sz="2400" b="1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low-reward</a:t>
                      </a:r>
                      <a:r>
                        <a:rPr lang="en-US" altLang="zh-CN" sz="2400" b="1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122859"/>
                  </a:ext>
                </a:extLst>
              </a:tr>
              <a:tr h="415466">
                <a:tc>
                  <a:txBody>
                    <a:bodyPr/>
                    <a:lstStyle/>
                    <a:p>
                      <a:pPr marL="114300" marR="0" algn="l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Task repeat 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767.747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>
                          <a:effectLst/>
                          <a:latin typeface="+mn-ea"/>
                          <a:ea typeface="+mn-ea"/>
                        </a:rPr>
                        <a:t>155.087</a:t>
                      </a:r>
                      <a:endParaRPr lang="zh-CN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>
                          <a:effectLst/>
                          <a:latin typeface="+mn-ea"/>
                          <a:ea typeface="+mn-ea"/>
                        </a:rPr>
                        <a:t>0.952</a:t>
                      </a:r>
                      <a:endParaRPr lang="zh-CN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0.034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7546"/>
                  </a:ext>
                </a:extLst>
              </a:tr>
              <a:tr h="415466">
                <a:tc>
                  <a:txBody>
                    <a:bodyPr/>
                    <a:lstStyle/>
                    <a:p>
                      <a:pPr marL="114300" marR="0" algn="l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Task repeat （复现）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766.534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142.849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0.942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0.036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623662"/>
                  </a:ext>
                </a:extLst>
              </a:tr>
              <a:tr h="415466">
                <a:tc>
                  <a:txBody>
                    <a:bodyPr/>
                    <a:lstStyle/>
                    <a:p>
                      <a:pPr marL="114300" marR="0" algn="l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Task switch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945.880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176.837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0.941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0.040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866326"/>
                  </a:ext>
                </a:extLst>
              </a:tr>
              <a:tr h="415466">
                <a:tc>
                  <a:txBody>
                    <a:bodyPr/>
                    <a:lstStyle/>
                    <a:p>
                      <a:pPr marL="114300" marR="0" algn="l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Task switch （复现）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956.659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180.879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0.930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0.047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531522"/>
                  </a:ext>
                </a:extLst>
              </a:tr>
              <a:tr h="780265">
                <a:tc gridSpan="5"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l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Task-switching</a:t>
                      </a:r>
                      <a:r>
                        <a:rPr lang="en-US" altLang="zh-CN" sz="2400" b="1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high-reward</a:t>
                      </a:r>
                      <a:r>
                        <a:rPr lang="en-US" altLang="zh-CN" sz="2400" b="1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254983"/>
                  </a:ext>
                </a:extLst>
              </a:tr>
              <a:tr h="415466">
                <a:tc>
                  <a:txBody>
                    <a:bodyPr/>
                    <a:lstStyle/>
                    <a:p>
                      <a:pPr marL="114300" marR="0" algn="l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Task repeat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>
                          <a:effectLst/>
                          <a:latin typeface="+mn-ea"/>
                          <a:ea typeface="+mn-ea"/>
                        </a:rPr>
                        <a:t>791.075</a:t>
                      </a:r>
                      <a:endParaRPr lang="zh-CN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123.487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0.949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0.038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023570"/>
                  </a:ext>
                </a:extLst>
              </a:tr>
              <a:tr h="415466">
                <a:tc>
                  <a:txBody>
                    <a:bodyPr/>
                    <a:lstStyle/>
                    <a:p>
                      <a:pPr marL="114300" marR="0" algn="l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Task repeat （复现）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778.088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129.050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0.946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0.037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520543"/>
                  </a:ext>
                </a:extLst>
              </a:tr>
              <a:tr h="415466">
                <a:tc>
                  <a:txBody>
                    <a:bodyPr/>
                    <a:lstStyle/>
                    <a:p>
                      <a:pPr marL="114300" marR="0" algn="l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Task switch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>
                          <a:effectLst/>
                          <a:latin typeface="+mn-ea"/>
                          <a:ea typeface="+mn-ea"/>
                        </a:rPr>
                        <a:t>945.981</a:t>
                      </a:r>
                      <a:endParaRPr lang="zh-CN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>
                          <a:effectLst/>
                          <a:latin typeface="+mn-ea"/>
                          <a:ea typeface="+mn-ea"/>
                        </a:rPr>
                        <a:t>146.854</a:t>
                      </a:r>
                      <a:endParaRPr lang="zh-CN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0.936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0.046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680756"/>
                  </a:ext>
                </a:extLst>
              </a:tr>
              <a:tr h="415466">
                <a:tc>
                  <a:txBody>
                    <a:bodyPr/>
                    <a:lstStyle/>
                    <a:p>
                      <a:pPr marL="114300" marR="0" algn="l">
                        <a:buNone/>
                      </a:pPr>
                      <a:r>
                        <a:rPr lang="zh-CN" sz="2400" b="0" dirty="0">
                          <a:effectLst/>
                          <a:latin typeface="+mn-ea"/>
                          <a:ea typeface="+mn-ea"/>
                        </a:rPr>
                        <a:t>Task switch （复现）</a:t>
                      </a:r>
                      <a:endParaRPr lang="zh-CN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947.726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156.982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0.924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0.050</a:t>
                      </a:r>
                    </a:p>
                  </a:txBody>
                  <a:tcPr marL="63500" marR="63500" marT="25400" marB="254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437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980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01283-A70A-3D56-7DAC-EA9E6FD40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FC1111C6-E07B-A5AC-ADB5-81082E764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07781C1F-A38E-06FD-DF85-36CC74AE0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0253" y="2721991"/>
            <a:ext cx="8117656" cy="7564980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09F9496F-B571-21E5-44BE-915CC6A584C1}"/>
              </a:ext>
            </a:extLst>
          </p:cNvPr>
          <p:cNvSpPr txBox="1"/>
          <p:nvPr/>
        </p:nvSpPr>
        <p:spPr>
          <a:xfrm>
            <a:off x="206271" y="180753"/>
            <a:ext cx="8150919" cy="33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dirty="0">
                <a:solidFill>
                  <a:schemeClr val="bg1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3</a:t>
            </a:r>
            <a:r>
              <a:rPr lang="zh-CN" altLang="en-US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 结果复现</a:t>
            </a:r>
            <a:endParaRPr sz="2200" b="1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D2FCFA8E-4BA8-2571-5D52-8BA6A83D81CC}"/>
              </a:ext>
            </a:extLst>
          </p:cNvPr>
          <p:cNvSpPr txBox="1"/>
          <p:nvPr/>
        </p:nvSpPr>
        <p:spPr>
          <a:xfrm>
            <a:off x="1142366" y="1115036"/>
            <a:ext cx="10850738" cy="421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③</a:t>
            </a:r>
            <a:r>
              <a:rPr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zh-C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Stroop 干扰效应</a:t>
            </a: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------- mixed-effects regressions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复现</a:t>
            </a:r>
            <a:endParaRPr sz="2800" b="1" dirty="0">
              <a:solidFill>
                <a:srgbClr val="E2869C"/>
              </a:solidFill>
              <a:latin typeface="Microsoft YaHei"/>
              <a:ea typeface="Microsoft YaHei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F03685F-3113-055B-014E-D5709A01D3A7}"/>
              </a:ext>
            </a:extLst>
          </p:cNvPr>
          <p:cNvGrpSpPr/>
          <p:nvPr/>
        </p:nvGrpSpPr>
        <p:grpSpPr>
          <a:xfrm>
            <a:off x="946763" y="1760961"/>
            <a:ext cx="15797406" cy="6683717"/>
            <a:chOff x="946763" y="2321810"/>
            <a:chExt cx="15797406" cy="6683717"/>
          </a:xfrm>
        </p:grpSpPr>
        <p:sp>
          <p:nvSpPr>
            <p:cNvPr id="7" name="Rounded Rectangle 4">
              <a:extLst>
                <a:ext uri="{FF2B5EF4-FFF2-40B4-BE49-F238E27FC236}">
                  <a16:creationId xmlns:a16="http://schemas.microsoft.com/office/drawing/2014/main" id="{C67785E8-21A0-E757-0952-4234103BD145}"/>
                </a:ext>
              </a:extLst>
            </p:cNvPr>
            <p:cNvSpPr/>
            <p:nvPr/>
          </p:nvSpPr>
          <p:spPr>
            <a:xfrm>
              <a:off x="946763" y="2321810"/>
              <a:ext cx="15797406" cy="5427459"/>
            </a:xfrm>
            <a:prstGeom prst="roundRect">
              <a:avLst/>
            </a:prstGeom>
            <a:solidFill>
              <a:srgbClr val="200B18"/>
            </a:solidFill>
            <a:ln w="12700">
              <a:solidFill>
                <a:srgbClr val="7A2A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020624D-F7E1-4A81-D651-0B1C7EEBDBEA}"/>
                </a:ext>
              </a:extLst>
            </p:cNvPr>
            <p:cNvSpPr txBox="1"/>
            <p:nvPr/>
          </p:nvSpPr>
          <p:spPr>
            <a:xfrm>
              <a:off x="1543831" y="2537731"/>
              <a:ext cx="14419463" cy="64677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en" altLang="zh-CN" sz="2200" dirty="0">
                  <a:solidFill>
                    <a:srgbClr val="C6A4B5"/>
                  </a:solidFill>
                  <a:latin typeface="Consolas"/>
                </a:rPr>
                <a:t># </a:t>
              </a:r>
              <a:r>
                <a:rPr lang="en-US" altLang="zh-CN" sz="2200" dirty="0">
                  <a:solidFill>
                    <a:srgbClr val="C6A4B5"/>
                  </a:solidFill>
                  <a:latin typeface="Consolas"/>
                </a:rPr>
                <a:t>RT &amp; Acc</a:t>
              </a: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效应</a:t>
              </a:r>
              <a:endParaRPr lang="en-US" altLang="zh-CN" sz="2200" dirty="0">
                <a:solidFill>
                  <a:srgbClr val="C6A4B5"/>
                </a:solidFill>
                <a:latin typeface="Consolas"/>
              </a:endParaRP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m_stroop_rt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 &lt;- 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lmer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(log(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rt_ms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) ~ incongruent + (1 | subject), data = 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stroop_correct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)</a:t>
              </a: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endParaRPr lang="en" altLang="zh-CN" sz="2200" dirty="0">
                <a:solidFill>
                  <a:schemeClr val="bg1"/>
                </a:solidFill>
                <a:latin typeface="Consolas"/>
              </a:endParaRP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m_stroop_acc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 &lt;- 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glmer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(correct ~ incongruent + (1 | subject), data = 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stroop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,</a:t>
              </a: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family = binomial, control = 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glmerControl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(optimizer = "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bobyqa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"))</a:t>
              </a: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endParaRPr lang="en-US" altLang="zh-CN" sz="2200" dirty="0">
                <a:solidFill>
                  <a:srgbClr val="C6A4B5"/>
                </a:solidFill>
                <a:latin typeface="Consolas"/>
              </a:endParaRP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en-US" altLang="zh-CN" sz="2200" dirty="0">
                  <a:solidFill>
                    <a:srgbClr val="C6A4B5"/>
                  </a:solidFill>
                  <a:latin typeface="Consolas"/>
                </a:rPr>
                <a:t>#</a:t>
              </a: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 构造 </a:t>
              </a:r>
              <a:r>
                <a:rPr lang="en" altLang="zh-CN" sz="2200" dirty="0">
                  <a:solidFill>
                    <a:srgbClr val="C6A4B5"/>
                  </a:solidFill>
                  <a:latin typeface="Consolas"/>
                </a:rPr>
                <a:t>EF </a:t>
              </a: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指标（</a:t>
              </a:r>
              <a:r>
                <a:rPr lang="en" altLang="zh-CN" sz="2200" dirty="0">
                  <a:solidFill>
                    <a:srgbClr val="C6A4B5"/>
                  </a:solidFill>
                  <a:latin typeface="Consolas"/>
                </a:rPr>
                <a:t>Stroop RT cost</a:t>
              </a:r>
              <a:r>
                <a:rPr lang="zh-CN" altLang="en" sz="2200" dirty="0">
                  <a:solidFill>
                    <a:srgbClr val="C6A4B5"/>
                  </a:solidFill>
                  <a:latin typeface="Consolas"/>
                </a:rPr>
                <a:t>）</a:t>
              </a:r>
              <a:endParaRPr lang="en" altLang="zh-CN" sz="2200" dirty="0">
                <a:solidFill>
                  <a:schemeClr val="bg1"/>
                </a:solidFill>
                <a:latin typeface="Consolas"/>
              </a:endParaRP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ef_cost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 &lt;- 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stroop_correct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 %&gt;%</a:t>
              </a: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group_by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(subject) %&gt;%</a:t>
              </a: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mutate(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zrt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 = scale(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rt_ms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)[, 1]) %&gt;%</a:t>
              </a: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summarise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(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stroop_cost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 = mean(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zrt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[congruent == 0]) - mean(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zrt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[congruent == 1]),</a:t>
              </a: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.groups = "drop")</a:t>
              </a: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endParaRPr lang="en" altLang="zh-CN" sz="2200" dirty="0">
                <a:solidFill>
                  <a:schemeClr val="bg1"/>
                </a:solidFill>
                <a:latin typeface="Consolas"/>
              </a:endParaRP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endParaRPr lang="zh-CN" altLang="en-US" sz="2200" dirty="0">
                <a:solidFill>
                  <a:srgbClr val="C6A4B5"/>
                </a:solidFill>
                <a:latin typeface="Consolas"/>
              </a:endParaRPr>
            </a:p>
            <a:p>
              <a:endParaRPr lang="zh-CN" altLang="zh-CN" sz="22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915A2D0-57BC-BC67-E0DC-30FDE2549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364107"/>
              </p:ext>
            </p:extLst>
          </p:nvPr>
        </p:nvGraphicFramePr>
        <p:xfrm>
          <a:off x="1121946" y="7564460"/>
          <a:ext cx="15444423" cy="1607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98911">
                  <a:extLst>
                    <a:ext uri="{9D8B030D-6E8A-4147-A177-3AD203B41FA5}">
                      <a16:colId xmlns:a16="http://schemas.microsoft.com/office/drawing/2014/main" val="823104017"/>
                    </a:ext>
                  </a:extLst>
                </a:gridCol>
                <a:gridCol w="3706078">
                  <a:extLst>
                    <a:ext uri="{9D8B030D-6E8A-4147-A177-3AD203B41FA5}">
                      <a16:colId xmlns:a16="http://schemas.microsoft.com/office/drawing/2014/main" val="1166086986"/>
                    </a:ext>
                  </a:extLst>
                </a:gridCol>
                <a:gridCol w="3569717">
                  <a:extLst>
                    <a:ext uri="{9D8B030D-6E8A-4147-A177-3AD203B41FA5}">
                      <a16:colId xmlns:a16="http://schemas.microsoft.com/office/drawing/2014/main" val="3775352321"/>
                    </a:ext>
                  </a:extLst>
                </a:gridCol>
                <a:gridCol w="3569717">
                  <a:extLst>
                    <a:ext uri="{9D8B030D-6E8A-4147-A177-3AD203B41FA5}">
                      <a16:colId xmlns:a16="http://schemas.microsoft.com/office/drawing/2014/main" val="1800670744"/>
                    </a:ext>
                  </a:extLst>
                </a:gridCol>
              </a:tblGrid>
              <a:tr h="485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RT(log) 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Acc(logit) 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66111"/>
                  </a:ext>
                </a:extLst>
              </a:tr>
              <a:tr h="5791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原文献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β = 0.12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β = -1.47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796308"/>
                  </a:ext>
                </a:extLst>
              </a:tr>
              <a:tr h="542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复现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β = 0.18</a:t>
                      </a:r>
                      <a:r>
                        <a:rPr lang="en-US" altLang="zh-CN" sz="24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β = -1.519 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329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400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5CDA9-E571-A276-31CD-0EA42D155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CB9259CA-40E0-1E5A-0A13-3643F961E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67E1BEC5-33AE-8525-B96D-6109DC156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0253" y="2721991"/>
            <a:ext cx="8117656" cy="7564980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8BA6CE6E-965F-A885-81F8-5CA8F44B484B}"/>
              </a:ext>
            </a:extLst>
          </p:cNvPr>
          <p:cNvSpPr txBox="1"/>
          <p:nvPr/>
        </p:nvSpPr>
        <p:spPr>
          <a:xfrm>
            <a:off x="206271" y="180753"/>
            <a:ext cx="8150919" cy="33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dirty="0">
                <a:solidFill>
                  <a:schemeClr val="bg1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3</a:t>
            </a:r>
            <a:r>
              <a:rPr lang="zh-CN" altLang="en-US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 结果复现</a:t>
            </a:r>
            <a:endParaRPr sz="2200" b="1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DB9736FF-99B7-6127-D7C6-B30C5EDD1DB6}"/>
              </a:ext>
            </a:extLst>
          </p:cNvPr>
          <p:cNvSpPr txBox="1"/>
          <p:nvPr/>
        </p:nvSpPr>
        <p:spPr>
          <a:xfrm>
            <a:off x="1142366" y="1115036"/>
            <a:ext cx="13190322" cy="421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④</a:t>
            </a:r>
            <a:r>
              <a:rPr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switch cost 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主效应</a:t>
            </a: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------- mixed-effects regressions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复现</a:t>
            </a:r>
            <a:endParaRPr sz="2800" b="1" dirty="0">
              <a:solidFill>
                <a:srgbClr val="E2869C"/>
              </a:solidFill>
              <a:latin typeface="Microsoft YaHei"/>
              <a:ea typeface="Microsoft YaHei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8D7E530-99C1-230A-2713-C57F1B01282A}"/>
              </a:ext>
            </a:extLst>
          </p:cNvPr>
          <p:cNvGrpSpPr/>
          <p:nvPr/>
        </p:nvGrpSpPr>
        <p:grpSpPr>
          <a:xfrm>
            <a:off x="946763" y="1760961"/>
            <a:ext cx="15797406" cy="5427459"/>
            <a:chOff x="946763" y="2321810"/>
            <a:chExt cx="15797406" cy="5427459"/>
          </a:xfrm>
        </p:grpSpPr>
        <p:sp>
          <p:nvSpPr>
            <p:cNvPr id="7" name="Rounded Rectangle 4">
              <a:extLst>
                <a:ext uri="{FF2B5EF4-FFF2-40B4-BE49-F238E27FC236}">
                  <a16:creationId xmlns:a16="http://schemas.microsoft.com/office/drawing/2014/main" id="{A6BD7072-80E7-3566-0001-9659AE0FE3DD}"/>
                </a:ext>
              </a:extLst>
            </p:cNvPr>
            <p:cNvSpPr/>
            <p:nvPr/>
          </p:nvSpPr>
          <p:spPr>
            <a:xfrm>
              <a:off x="946763" y="2321810"/>
              <a:ext cx="15797406" cy="5427459"/>
            </a:xfrm>
            <a:prstGeom prst="roundRect">
              <a:avLst/>
            </a:prstGeom>
            <a:solidFill>
              <a:srgbClr val="200B18"/>
            </a:solidFill>
            <a:ln w="12700">
              <a:solidFill>
                <a:srgbClr val="7A2A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26B1638-EDC0-6250-8A35-A1B2173CF05C}"/>
                </a:ext>
              </a:extLst>
            </p:cNvPr>
            <p:cNvSpPr txBox="1"/>
            <p:nvPr/>
          </p:nvSpPr>
          <p:spPr>
            <a:xfrm>
              <a:off x="1543831" y="2833808"/>
              <a:ext cx="14419463" cy="3880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en" altLang="zh-CN" sz="2200" dirty="0">
                  <a:solidFill>
                    <a:srgbClr val="C6A4B5"/>
                  </a:solidFill>
                  <a:latin typeface="Consolas"/>
                </a:rPr>
                <a:t># </a:t>
              </a:r>
              <a:r>
                <a:rPr lang="en-US" altLang="zh-CN" sz="2200" dirty="0">
                  <a:solidFill>
                    <a:srgbClr val="C6A4B5"/>
                  </a:solidFill>
                  <a:latin typeface="Consolas"/>
                </a:rPr>
                <a:t>RT &amp; Acc</a:t>
              </a:r>
              <a:r>
                <a:rPr lang="zh-CN" altLang="en-US" sz="2200" dirty="0">
                  <a:solidFill>
                    <a:srgbClr val="C6A4B5"/>
                  </a:solidFill>
                  <a:latin typeface="Consolas"/>
                </a:rPr>
                <a:t>效应</a:t>
              </a:r>
              <a:endParaRPr lang="en-US" altLang="zh-CN" sz="2200" dirty="0">
                <a:solidFill>
                  <a:srgbClr val="C6A4B5"/>
                </a:solidFill>
                <a:latin typeface="Consolas"/>
              </a:endParaRP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m_switch_rt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 &lt;- 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lmer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(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log_rt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 ~ switch + (1 | subject), data = 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ts_model_data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)</a:t>
              </a: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endParaRPr lang="en" altLang="zh-CN" sz="2200" dirty="0">
                <a:solidFill>
                  <a:schemeClr val="bg1"/>
                </a:solidFill>
                <a:latin typeface="Consolas"/>
              </a:endParaRP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endParaRPr lang="en" altLang="zh-CN" sz="2200" dirty="0">
                <a:solidFill>
                  <a:schemeClr val="bg1"/>
                </a:solidFill>
                <a:latin typeface="Consolas"/>
              </a:endParaRP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m_switch_acc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 &lt;- 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glmer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(correct ~ switch + (1 | subject), data = 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ts_acc_data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,</a:t>
              </a: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family = binomial, control = 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glmerControl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(optimizer = "</a:t>
              </a:r>
              <a:r>
                <a:rPr lang="en" altLang="zh-CN" sz="2200" dirty="0" err="1">
                  <a:solidFill>
                    <a:schemeClr val="bg1"/>
                  </a:solidFill>
                  <a:latin typeface="Consolas"/>
                </a:rPr>
                <a:t>bobyqa</a:t>
              </a:r>
              <a:r>
                <a:rPr lang="en" altLang="zh-CN" sz="2200" dirty="0">
                  <a:solidFill>
                    <a:schemeClr val="bg1"/>
                  </a:solidFill>
                  <a:latin typeface="Consolas"/>
                </a:rPr>
                <a:t>"))</a:t>
              </a: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endParaRPr lang="en" altLang="zh-CN" sz="2200" dirty="0">
                <a:solidFill>
                  <a:schemeClr val="bg1"/>
                </a:solidFill>
                <a:latin typeface="Consolas"/>
              </a:endParaRP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endParaRPr lang="zh-CN" altLang="en-US" sz="2200" dirty="0">
                <a:solidFill>
                  <a:srgbClr val="C6A4B5"/>
                </a:solidFill>
                <a:latin typeface="Consolas"/>
              </a:endParaRPr>
            </a:p>
            <a:p>
              <a:endParaRPr lang="zh-CN" altLang="zh-CN" sz="22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D4013582-874F-F224-CD75-6F37F4780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142504"/>
              </p:ext>
            </p:extLst>
          </p:nvPr>
        </p:nvGraphicFramePr>
        <p:xfrm>
          <a:off x="1198146" y="7564460"/>
          <a:ext cx="15444423" cy="1607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98911">
                  <a:extLst>
                    <a:ext uri="{9D8B030D-6E8A-4147-A177-3AD203B41FA5}">
                      <a16:colId xmlns:a16="http://schemas.microsoft.com/office/drawing/2014/main" val="823104017"/>
                    </a:ext>
                  </a:extLst>
                </a:gridCol>
                <a:gridCol w="3706078">
                  <a:extLst>
                    <a:ext uri="{9D8B030D-6E8A-4147-A177-3AD203B41FA5}">
                      <a16:colId xmlns:a16="http://schemas.microsoft.com/office/drawing/2014/main" val="1166086986"/>
                    </a:ext>
                  </a:extLst>
                </a:gridCol>
                <a:gridCol w="3569717">
                  <a:extLst>
                    <a:ext uri="{9D8B030D-6E8A-4147-A177-3AD203B41FA5}">
                      <a16:colId xmlns:a16="http://schemas.microsoft.com/office/drawing/2014/main" val="3775352321"/>
                    </a:ext>
                  </a:extLst>
                </a:gridCol>
                <a:gridCol w="3569717">
                  <a:extLst>
                    <a:ext uri="{9D8B030D-6E8A-4147-A177-3AD203B41FA5}">
                      <a16:colId xmlns:a16="http://schemas.microsoft.com/office/drawing/2014/main" val="1800670744"/>
                    </a:ext>
                  </a:extLst>
                </a:gridCol>
              </a:tblGrid>
              <a:tr h="4858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RT(log) 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Acc(logit) 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66111"/>
                  </a:ext>
                </a:extLst>
              </a:tr>
              <a:tr h="5791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原文献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β = 0.17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β = -0.10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796308"/>
                  </a:ext>
                </a:extLst>
              </a:tr>
              <a:tr h="542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复现</a:t>
                      </a:r>
                    </a:p>
                  </a:txBody>
                  <a:tcPr marL="9525" marR="9525" marT="952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β = 0.176</a:t>
                      </a:r>
                    </a:p>
                  </a:txBody>
                  <a:tcPr marL="9525" marR="9525" marT="952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β = -0.285</a:t>
                      </a:r>
                    </a:p>
                  </a:txBody>
                  <a:tcPr marL="9525" marR="9525" marT="952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329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694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5B8AF-B689-10B2-3210-9CC6C1D78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B35A3DC9-E191-C3F8-5747-E02E8182B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01B9F12B-D126-DA67-354D-76D82FB6D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0253" y="2721991"/>
            <a:ext cx="8117656" cy="7564980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6F71BFF8-87FB-1DC3-BC1A-E928BA7F56FB}"/>
              </a:ext>
            </a:extLst>
          </p:cNvPr>
          <p:cNvSpPr txBox="1"/>
          <p:nvPr/>
        </p:nvSpPr>
        <p:spPr>
          <a:xfrm>
            <a:off x="206271" y="180753"/>
            <a:ext cx="8150919" cy="33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dirty="0">
                <a:solidFill>
                  <a:schemeClr val="bg1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3</a:t>
            </a:r>
            <a:r>
              <a:rPr lang="zh-CN" altLang="en-US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 结果复现</a:t>
            </a:r>
            <a:endParaRPr sz="2200" b="1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C709E3A3-97A7-87C5-FB31-333B4261C2FB}"/>
              </a:ext>
            </a:extLst>
          </p:cNvPr>
          <p:cNvSpPr txBox="1"/>
          <p:nvPr/>
        </p:nvSpPr>
        <p:spPr>
          <a:xfrm>
            <a:off x="1166124" y="1519699"/>
            <a:ext cx="15423160" cy="421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④</a:t>
            </a:r>
            <a:r>
              <a:rPr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switch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×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reward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× EF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zh-CN" altLang="e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的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三重交互作用</a:t>
            </a: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------- mixed-effects regressions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复现</a:t>
            </a:r>
            <a:endParaRPr sz="2800" b="1" dirty="0">
              <a:solidFill>
                <a:srgbClr val="E2869C"/>
              </a:solidFill>
              <a:latin typeface="Microsoft YaHei"/>
              <a:ea typeface="Microsoft YaHei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29119F-6D0A-8799-49FC-E01C8DD1FE9B}"/>
              </a:ext>
            </a:extLst>
          </p:cNvPr>
          <p:cNvGrpSpPr/>
          <p:nvPr/>
        </p:nvGrpSpPr>
        <p:grpSpPr>
          <a:xfrm>
            <a:off x="979001" y="2389210"/>
            <a:ext cx="15797406" cy="2669419"/>
            <a:chOff x="946763" y="2321810"/>
            <a:chExt cx="15797406" cy="6539116"/>
          </a:xfrm>
        </p:grpSpPr>
        <p:sp>
          <p:nvSpPr>
            <p:cNvPr id="7" name="Rounded Rectangle 4">
              <a:extLst>
                <a:ext uri="{FF2B5EF4-FFF2-40B4-BE49-F238E27FC236}">
                  <a16:creationId xmlns:a16="http://schemas.microsoft.com/office/drawing/2014/main" id="{5055D5D3-97C8-DF11-F364-C1DF7656BFDA}"/>
                </a:ext>
              </a:extLst>
            </p:cNvPr>
            <p:cNvSpPr/>
            <p:nvPr/>
          </p:nvSpPr>
          <p:spPr>
            <a:xfrm>
              <a:off x="946763" y="2321810"/>
              <a:ext cx="15797406" cy="5427459"/>
            </a:xfrm>
            <a:prstGeom prst="roundRect">
              <a:avLst/>
            </a:prstGeom>
            <a:solidFill>
              <a:srgbClr val="200B18"/>
            </a:solidFill>
            <a:ln w="12700">
              <a:solidFill>
                <a:srgbClr val="7A2A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8F40D6-4585-CB90-2B27-06F1F0B91550}"/>
                </a:ext>
              </a:extLst>
            </p:cNvPr>
            <p:cNvSpPr txBox="1"/>
            <p:nvPr/>
          </p:nvSpPr>
          <p:spPr>
            <a:xfrm>
              <a:off x="1479355" y="3204793"/>
              <a:ext cx="14419463" cy="5656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200" dirty="0">
                  <a:solidFill>
                    <a:schemeClr val="bg1"/>
                  </a:solidFill>
                </a:rPr>
                <a:t>#</a:t>
              </a:r>
              <a:r>
                <a:rPr lang="zh-CN" altLang="en-US" sz="2200" dirty="0">
                  <a:solidFill>
                    <a:schemeClr val="bg1"/>
                  </a:solidFill>
                </a:rPr>
                <a:t> 构建 </a:t>
              </a:r>
              <a:r>
                <a:rPr lang="zh-CN" altLang="zh-CN" sz="2200" dirty="0">
                  <a:solidFill>
                    <a:schemeClr val="bg1"/>
                  </a:solidFill>
                </a:rPr>
                <a:t>EF 模型</a:t>
              </a:r>
            </a:p>
            <a:p>
              <a:endParaRPr lang="en-US" altLang="zh-CN" sz="2200" dirty="0">
                <a:solidFill>
                  <a:schemeClr val="bg1"/>
                </a:solidFill>
              </a:endParaRP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m_tab2 &lt;- lmer(log_rt ~ switch * reward * EF_z + block_c + (1 | subject), data = ana)</a:t>
              </a: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endParaRPr lang="en" altLang="zh-CN" sz="2200" dirty="0">
                <a:solidFill>
                  <a:schemeClr val="bg1"/>
                </a:solidFill>
                <a:latin typeface="Consolas"/>
              </a:endParaRP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endParaRPr lang="zh-CN" altLang="en-US" sz="2200" dirty="0">
                <a:solidFill>
                  <a:srgbClr val="C6A4B5"/>
                </a:solidFill>
                <a:latin typeface="Consolas"/>
              </a:endParaRPr>
            </a:p>
            <a:p>
              <a:endParaRPr lang="zh-CN" altLang="zh-CN" sz="2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193C0829-6820-3DC8-17BF-793C2F6A08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39" y="5413264"/>
            <a:ext cx="8382565" cy="36229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AAA1A458-734A-7F1C-2F68-C19B6C156006}"/>
              </a:ext>
            </a:extLst>
          </p:cNvPr>
          <p:cNvSpPr/>
          <p:nvPr/>
        </p:nvSpPr>
        <p:spPr>
          <a:xfrm>
            <a:off x="595424" y="8398284"/>
            <a:ext cx="7846827" cy="340242"/>
          </a:xfrm>
          <a:prstGeom prst="rect">
            <a:avLst/>
          </a:prstGeom>
          <a:noFill/>
          <a:ln>
            <a:solidFill>
              <a:srgbClr val="E286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    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50D76A7C-1484-C443-95C7-BC865D521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460815"/>
              </p:ext>
            </p:extLst>
          </p:nvPr>
        </p:nvGraphicFramePr>
        <p:xfrm>
          <a:off x="9266516" y="5455770"/>
          <a:ext cx="8420489" cy="3622972"/>
        </p:xfrm>
        <a:graphic>
          <a:graphicData uri="http://schemas.openxmlformats.org/drawingml/2006/table">
            <a:tbl>
              <a:tblPr/>
              <a:tblGrid>
                <a:gridCol w="3815411">
                  <a:extLst>
                    <a:ext uri="{9D8B030D-6E8A-4147-A177-3AD203B41FA5}">
                      <a16:colId xmlns:a16="http://schemas.microsoft.com/office/drawing/2014/main" val="1627946453"/>
                    </a:ext>
                  </a:extLst>
                </a:gridCol>
                <a:gridCol w="2894132">
                  <a:extLst>
                    <a:ext uri="{9D8B030D-6E8A-4147-A177-3AD203B41FA5}">
                      <a16:colId xmlns:a16="http://schemas.microsoft.com/office/drawing/2014/main" val="2950730449"/>
                    </a:ext>
                  </a:extLst>
                </a:gridCol>
                <a:gridCol w="1710946">
                  <a:extLst>
                    <a:ext uri="{9D8B030D-6E8A-4147-A177-3AD203B41FA5}">
                      <a16:colId xmlns:a16="http://schemas.microsoft.com/office/drawing/2014/main" val="2992131433"/>
                    </a:ext>
                  </a:extLst>
                </a:gridCol>
              </a:tblGrid>
              <a:tr h="5500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Coefficient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Estimate (SE)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p-value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299544"/>
                  </a:ext>
                </a:extLst>
              </a:tr>
              <a:tr h="3414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(Intercept)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6.6927 (0.0217)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&lt; 0.0001</a:t>
                      </a:r>
                      <a:r>
                        <a:rPr lang="zh-CN" sz="15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*</a:t>
                      </a:r>
                      <a:endParaRPr lang="zh-CN" sz="1500" b="0" i="0" u="none" strike="noStrike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7861"/>
                  </a:ext>
                </a:extLst>
              </a:tr>
              <a:tr h="3414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Trial type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0.1862 (0.0078)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&lt; 0.0001</a:t>
                      </a:r>
                      <a:r>
                        <a:rPr lang="zh-CN" sz="15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*</a:t>
                      </a:r>
                      <a:endParaRPr lang="zh-CN" sz="1500" b="0" i="0" u="none" strike="noStrike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67126"/>
                  </a:ext>
                </a:extLst>
              </a:tr>
              <a:tr h="3414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Reward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0.0152 (0.0080)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0.0578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816772"/>
                  </a:ext>
                </a:extLst>
              </a:tr>
              <a:tr h="3414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EF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0.0056 (0.0218)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0.7979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321207"/>
                  </a:ext>
                </a:extLst>
              </a:tr>
              <a:tr h="3414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Block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−0.1088 (0.0055)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&lt; 0.0001</a:t>
                      </a:r>
                      <a:r>
                        <a:rPr lang="zh-CN" sz="15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*</a:t>
                      </a:r>
                      <a:endParaRPr lang="zh-CN" sz="1500" b="0" i="0" u="none" strike="noStrike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201609"/>
                  </a:ext>
                </a:extLst>
              </a:tr>
              <a:tr h="3414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Trial type × reward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−0.0199 (0.0111)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0.0725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987933"/>
                  </a:ext>
                </a:extLst>
              </a:tr>
              <a:tr h="3414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Trial type × EF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0.0129 (0.0078)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0.1006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462244"/>
                  </a:ext>
                </a:extLst>
              </a:tr>
              <a:tr h="3414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Reward × EF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0.0157 (0.0081)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0.0514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519646"/>
                  </a:ext>
                </a:extLst>
              </a:tr>
              <a:tr h="3414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Trial type × reward × EF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−0.0176 (0.0111)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0.1109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165615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99C0C9DA-CD90-BCDE-9D23-3C056C4ABDBB}"/>
              </a:ext>
            </a:extLst>
          </p:cNvPr>
          <p:cNvSpPr/>
          <p:nvPr/>
        </p:nvSpPr>
        <p:spPr>
          <a:xfrm>
            <a:off x="9250326" y="8738525"/>
            <a:ext cx="7796240" cy="297712"/>
          </a:xfrm>
          <a:prstGeom prst="rect">
            <a:avLst/>
          </a:prstGeom>
          <a:noFill/>
          <a:ln>
            <a:solidFill>
              <a:srgbClr val="E286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4264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32E9-1415-C493-4937-145A71C48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CE3E4C36-E6D8-A187-B832-E30B24EA2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92"/>
            <a:ext cx="18287999" cy="10286999"/>
          </a:xfrm>
          <a:prstGeom prst="rect">
            <a:avLst/>
          </a:prstGeom>
        </p:spPr>
      </p:pic>
      <p:pic>
        <p:nvPicPr>
          <p:cNvPr id="10" name="object 3">
            <a:extLst>
              <a:ext uri="{FF2B5EF4-FFF2-40B4-BE49-F238E27FC236}">
                <a16:creationId xmlns:a16="http://schemas.microsoft.com/office/drawing/2014/main" id="{D1893A99-A7F4-D656-7BD0-0781499D1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8120" y="6201918"/>
            <a:ext cx="3219878" cy="4084989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40385FCD-41AC-6971-7F6E-DA10B7098D75}"/>
              </a:ext>
            </a:extLst>
          </p:cNvPr>
          <p:cNvSpPr txBox="1"/>
          <p:nvPr/>
        </p:nvSpPr>
        <p:spPr>
          <a:xfrm>
            <a:off x="206271" y="180753"/>
            <a:ext cx="8150919" cy="33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dirty="0">
                <a:solidFill>
                  <a:schemeClr val="bg1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3</a:t>
            </a:r>
            <a:r>
              <a:rPr lang="zh-CN" altLang="en-US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 结果复现</a:t>
            </a:r>
            <a:endParaRPr sz="2200" b="1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100F6B58-4B0F-50F4-5C25-C48EF4E72754}"/>
              </a:ext>
            </a:extLst>
          </p:cNvPr>
          <p:cNvSpPr txBox="1"/>
          <p:nvPr/>
        </p:nvSpPr>
        <p:spPr>
          <a:xfrm>
            <a:off x="1142366" y="1115036"/>
            <a:ext cx="16422620" cy="421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④</a:t>
            </a:r>
            <a:r>
              <a:rPr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switch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×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reward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× EF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zh-CN" altLang="e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的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三重交互作用</a:t>
            </a:r>
            <a:endParaRPr sz="2800" b="1" dirty="0">
              <a:solidFill>
                <a:srgbClr val="E2869C"/>
              </a:solidFill>
              <a:latin typeface="Microsoft YaHei"/>
              <a:ea typeface="Microsoft YaHe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2FC56D-7D8B-A4FD-466A-B8B78E666A0B}"/>
              </a:ext>
            </a:extLst>
          </p:cNvPr>
          <p:cNvSpPr txBox="1"/>
          <p:nvPr/>
        </p:nvSpPr>
        <p:spPr>
          <a:xfrm>
            <a:off x="715387" y="9171964"/>
            <a:ext cx="15906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bg1"/>
                </a:solidFill>
              </a:rPr>
              <a:t>复现结果：</a:t>
            </a:r>
            <a:r>
              <a:rPr lang="zh-CN" altLang="zh-CN" sz="2400" dirty="0">
                <a:solidFill>
                  <a:schemeClr val="bg1"/>
                </a:solidFill>
              </a:rPr>
              <a:t> Switch×reward×EF</a:t>
            </a:r>
            <a:r>
              <a:rPr kumimoji="1" lang="zh-CN" altLang="en-US" sz="2400" dirty="0">
                <a:solidFill>
                  <a:schemeClr val="bg1"/>
                </a:solidFill>
              </a:rPr>
              <a:t>三重交互不显著，与原文献不一致</a:t>
            </a:r>
            <a:endParaRPr lang="zh-CN" altLang="zh-CN" sz="2400" dirty="0">
              <a:solidFill>
                <a:schemeClr val="bg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CA19C76-33A6-B5EF-2A25-D6D56186D967}"/>
              </a:ext>
            </a:extLst>
          </p:cNvPr>
          <p:cNvGrpSpPr/>
          <p:nvPr/>
        </p:nvGrpSpPr>
        <p:grpSpPr>
          <a:xfrm>
            <a:off x="672215" y="2456744"/>
            <a:ext cx="16943570" cy="6095548"/>
            <a:chOff x="672215" y="2456744"/>
            <a:chExt cx="16943570" cy="6095548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7366165-6ADD-4BB5-1678-96F7857B7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44807" y="2456744"/>
              <a:ext cx="8270978" cy="6070017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58576AD-9C93-ED10-3BAE-B3E3103D2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2215" y="2456744"/>
              <a:ext cx="8428614" cy="60955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0775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BCF6-7409-12E4-BF53-555FF37A9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5C72CC6B-5FBE-E992-27F8-EA5BF4047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92"/>
            <a:ext cx="18287999" cy="10286999"/>
          </a:xfrm>
          <a:prstGeom prst="rect">
            <a:avLst/>
          </a:prstGeom>
        </p:spPr>
      </p:pic>
      <p:pic>
        <p:nvPicPr>
          <p:cNvPr id="10" name="object 3">
            <a:extLst>
              <a:ext uri="{FF2B5EF4-FFF2-40B4-BE49-F238E27FC236}">
                <a16:creationId xmlns:a16="http://schemas.microsoft.com/office/drawing/2014/main" id="{B2E31CE9-C5F6-09F6-FBE2-C85B6A3B8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8120" y="6201918"/>
            <a:ext cx="3219878" cy="4084989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3A5343BA-DDEC-C143-7C69-8B31A6953BB7}"/>
              </a:ext>
            </a:extLst>
          </p:cNvPr>
          <p:cNvSpPr txBox="1"/>
          <p:nvPr/>
        </p:nvSpPr>
        <p:spPr>
          <a:xfrm>
            <a:off x="206271" y="180753"/>
            <a:ext cx="8150919" cy="33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dirty="0">
                <a:solidFill>
                  <a:schemeClr val="bg1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3</a:t>
            </a:r>
            <a:r>
              <a:rPr lang="zh-CN" altLang="en-US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 结果复现</a:t>
            </a:r>
            <a:endParaRPr sz="2200" b="1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E0AB0CB5-B0A7-1A85-1037-AFE867B11D60}"/>
              </a:ext>
            </a:extLst>
          </p:cNvPr>
          <p:cNvSpPr txBox="1"/>
          <p:nvPr/>
        </p:nvSpPr>
        <p:spPr>
          <a:xfrm>
            <a:off x="1142366" y="1115036"/>
            <a:ext cx="16422620" cy="421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④</a:t>
            </a:r>
            <a:r>
              <a:rPr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reward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effect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× EF</a:t>
            </a:r>
            <a:r>
              <a:rPr lang="zh-CN" altLang="e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的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相关</a:t>
            </a:r>
            <a:endParaRPr sz="2800" b="1" dirty="0">
              <a:solidFill>
                <a:srgbClr val="E2869C"/>
              </a:solidFill>
              <a:latin typeface="Microsoft YaHei"/>
              <a:ea typeface="Microsoft YaHe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47D70FC-AE9F-E374-2CE4-C6D9C2266776}"/>
              </a:ext>
            </a:extLst>
          </p:cNvPr>
          <p:cNvSpPr txBox="1"/>
          <p:nvPr/>
        </p:nvSpPr>
        <p:spPr>
          <a:xfrm>
            <a:off x="663284" y="9131825"/>
            <a:ext cx="15906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bg1"/>
                </a:solidFill>
              </a:rPr>
              <a:t>复现结果：</a:t>
            </a:r>
            <a:r>
              <a:rPr lang="zh-CN" altLang="zh-CN" sz="2400" dirty="0">
                <a:solidFill>
                  <a:schemeClr val="bg1"/>
                </a:solidFill>
              </a:rPr>
              <a:t> reward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effect</a:t>
            </a:r>
            <a:r>
              <a:rPr lang="zh-CN" altLang="zh-CN" sz="2400" dirty="0">
                <a:solidFill>
                  <a:schemeClr val="bg1"/>
                </a:solidFill>
              </a:rPr>
              <a:t>×EF</a:t>
            </a:r>
            <a:r>
              <a:rPr kumimoji="1" lang="zh-CN" altLang="en-US" sz="2400" dirty="0">
                <a:solidFill>
                  <a:schemeClr val="bg1"/>
                </a:solidFill>
              </a:rPr>
              <a:t>相关不显著，与原文献不一致</a:t>
            </a:r>
            <a:endParaRPr lang="zh-CN" altLang="zh-CN" sz="2400" dirty="0">
              <a:solidFill>
                <a:schemeClr val="bg1"/>
              </a:solidFill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0A444DD-9223-DDBA-AAB9-5AFA17309F8C}"/>
              </a:ext>
            </a:extLst>
          </p:cNvPr>
          <p:cNvGrpSpPr/>
          <p:nvPr/>
        </p:nvGrpSpPr>
        <p:grpSpPr>
          <a:xfrm>
            <a:off x="663284" y="2119026"/>
            <a:ext cx="17220678" cy="6399659"/>
            <a:chOff x="514429" y="2119027"/>
            <a:chExt cx="17156882" cy="629833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3D77E2D6-2424-39F1-B107-FA0BAE403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4429" y="2119027"/>
              <a:ext cx="8620352" cy="6297646"/>
            </a:xfrm>
            <a:prstGeom prst="rect">
              <a:avLst/>
            </a:prstGeom>
          </p:spPr>
        </p:pic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12AB4387-978F-D85E-E031-1D4697F8E91E}"/>
                </a:ext>
              </a:extLst>
            </p:cNvPr>
            <p:cNvGrpSpPr/>
            <p:nvPr/>
          </p:nvGrpSpPr>
          <p:grpSpPr>
            <a:xfrm>
              <a:off x="9548038" y="2140292"/>
              <a:ext cx="8123273" cy="6277073"/>
              <a:chOff x="9548038" y="2140292"/>
              <a:chExt cx="8123273" cy="6277073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ED7F7324-36B2-8FBB-A034-01F8CC6E6D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48038" y="2140292"/>
                <a:ext cx="8123273" cy="6277073"/>
              </a:xfrm>
              <a:prstGeom prst="rect">
                <a:avLst/>
              </a:prstGeom>
            </p:spPr>
          </p:pic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BF6F510-32C6-7CF5-D815-892504B1751B}"/>
                  </a:ext>
                </a:extLst>
              </p:cNvPr>
              <p:cNvSpPr txBox="1"/>
              <p:nvPr/>
            </p:nvSpPr>
            <p:spPr>
              <a:xfrm>
                <a:off x="10292316" y="2140292"/>
                <a:ext cx="1531089" cy="3902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kumimoji="1" lang="zh-CN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6994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3B64D-66A1-DC51-0DAE-D49C5BBCE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F373FFB1-4AAD-31B1-AF78-0DC66F21B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FCD10FD9-111E-8CC3-43DE-6CB029F88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0253" y="2721991"/>
            <a:ext cx="8117656" cy="7564980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82C92979-3640-98EA-0F7C-2BD774C01CB5}"/>
              </a:ext>
            </a:extLst>
          </p:cNvPr>
          <p:cNvSpPr txBox="1"/>
          <p:nvPr/>
        </p:nvSpPr>
        <p:spPr>
          <a:xfrm>
            <a:off x="206271" y="180753"/>
            <a:ext cx="8150919" cy="33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dirty="0">
                <a:solidFill>
                  <a:schemeClr val="bg1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3</a:t>
            </a:r>
            <a:r>
              <a:rPr lang="zh-CN" altLang="en-US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 结果复现</a:t>
            </a:r>
            <a:endParaRPr sz="2200" b="1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20DEF696-8E57-54DE-A1BD-B9FD41075917}"/>
              </a:ext>
            </a:extLst>
          </p:cNvPr>
          <p:cNvSpPr txBox="1"/>
          <p:nvPr/>
        </p:nvSpPr>
        <p:spPr>
          <a:xfrm>
            <a:off x="1064921" y="1584603"/>
            <a:ext cx="15423160" cy="421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⑤</a:t>
            </a:r>
            <a:r>
              <a:rPr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switch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×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reward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× NFC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zh-CN" altLang="e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的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三重交互作用</a:t>
            </a: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------- mixed-effects regressions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复现</a:t>
            </a:r>
            <a:endParaRPr sz="2800" b="1" dirty="0">
              <a:solidFill>
                <a:srgbClr val="E2869C"/>
              </a:solidFill>
              <a:latin typeface="Microsoft YaHei"/>
              <a:ea typeface="Microsoft YaHei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2F4FA34-05A6-7258-999E-017E776A0B84}"/>
              </a:ext>
            </a:extLst>
          </p:cNvPr>
          <p:cNvGrpSpPr/>
          <p:nvPr/>
        </p:nvGrpSpPr>
        <p:grpSpPr>
          <a:xfrm>
            <a:off x="955243" y="2385258"/>
            <a:ext cx="15797406" cy="2690059"/>
            <a:chOff x="946763" y="2321810"/>
            <a:chExt cx="15797406" cy="6589675"/>
          </a:xfrm>
        </p:grpSpPr>
        <p:sp>
          <p:nvSpPr>
            <p:cNvPr id="7" name="Rounded Rectangle 4">
              <a:extLst>
                <a:ext uri="{FF2B5EF4-FFF2-40B4-BE49-F238E27FC236}">
                  <a16:creationId xmlns:a16="http://schemas.microsoft.com/office/drawing/2014/main" id="{60A408B5-0554-28F2-803E-277356665D00}"/>
                </a:ext>
              </a:extLst>
            </p:cNvPr>
            <p:cNvSpPr/>
            <p:nvPr/>
          </p:nvSpPr>
          <p:spPr>
            <a:xfrm>
              <a:off x="946763" y="2321810"/>
              <a:ext cx="15797406" cy="5427459"/>
            </a:xfrm>
            <a:prstGeom prst="roundRect">
              <a:avLst/>
            </a:prstGeom>
            <a:solidFill>
              <a:srgbClr val="200B18"/>
            </a:solidFill>
            <a:ln w="12700">
              <a:solidFill>
                <a:srgbClr val="7A2A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227C60F-A4AF-803E-C330-18795D83C24B}"/>
                </a:ext>
              </a:extLst>
            </p:cNvPr>
            <p:cNvSpPr txBox="1"/>
            <p:nvPr/>
          </p:nvSpPr>
          <p:spPr>
            <a:xfrm>
              <a:off x="1526871" y="3255353"/>
              <a:ext cx="14489224" cy="56561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200" dirty="0">
                  <a:solidFill>
                    <a:schemeClr val="bg1"/>
                  </a:solidFill>
                </a:rPr>
                <a:t>#</a:t>
              </a:r>
              <a:r>
                <a:rPr lang="zh-CN" altLang="en-US" sz="2200" dirty="0">
                  <a:solidFill>
                    <a:schemeClr val="bg1"/>
                  </a:solidFill>
                </a:rPr>
                <a:t> 构建 </a:t>
              </a:r>
              <a:r>
                <a:rPr lang="zh-CN" altLang="zh-CN" sz="2200" dirty="0">
                  <a:solidFill>
                    <a:schemeClr val="bg1"/>
                  </a:solidFill>
                </a:rPr>
                <a:t>EF 模型</a:t>
              </a:r>
            </a:p>
            <a:p>
              <a:endParaRPr lang="en-US" altLang="zh-CN" sz="2200" dirty="0">
                <a:solidFill>
                  <a:schemeClr val="bg1"/>
                </a:solidFill>
              </a:endParaRPr>
            </a:p>
            <a:p>
              <a:r>
                <a:rPr lang="zh-CN" altLang="zh-CN" sz="2200" dirty="0">
                  <a:solidFill>
                    <a:schemeClr val="bg1"/>
                  </a:solidFill>
                </a:rPr>
                <a:t>m_tab3 &lt;- lmer(log_rt ~ switch * reward * NFC_z + block_c + (1 | subject),</a:t>
              </a:r>
              <a:r>
                <a:rPr lang="zh-CN" altLang="en-US" sz="2200" dirty="0">
                  <a:solidFill>
                    <a:schemeClr val="bg1"/>
                  </a:solidFill>
                </a:rPr>
                <a:t>  </a:t>
              </a:r>
              <a:r>
                <a:rPr lang="zh-CN" altLang="zh-CN" sz="2200" dirty="0">
                  <a:solidFill>
                    <a:schemeClr val="bg1"/>
                  </a:solidFill>
                </a:rPr>
                <a:t>data = filter(ana, !is.na(NFC_z)))</a:t>
              </a: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endParaRPr lang="en" altLang="zh-CN" sz="2200" dirty="0">
                <a:solidFill>
                  <a:schemeClr val="bg1"/>
                </a:solidFill>
                <a:latin typeface="Consolas"/>
              </a:endParaRPr>
            </a:p>
            <a:p>
              <a:pPr>
                <a:lnSpc>
                  <a:spcPct val="116000"/>
                </a:lnSpc>
                <a:spcAft>
                  <a:spcPts val="300"/>
                </a:spcAft>
              </a:pPr>
              <a:endParaRPr lang="zh-CN" altLang="en-US" sz="2200" dirty="0">
                <a:solidFill>
                  <a:srgbClr val="C6A4B5"/>
                </a:solidFill>
                <a:latin typeface="Consolas"/>
              </a:endParaRPr>
            </a:p>
            <a:p>
              <a:endParaRPr lang="zh-CN" altLang="zh-CN" sz="2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BF34E75F-892D-4C48-9606-57285DA57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086" y="5112732"/>
            <a:ext cx="8819565" cy="3947086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C35145E-709B-FFDB-09EB-EB4815F62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471920"/>
              </p:ext>
            </p:extLst>
          </p:nvPr>
        </p:nvGraphicFramePr>
        <p:xfrm>
          <a:off x="9691626" y="5124872"/>
          <a:ext cx="8117656" cy="3951807"/>
        </p:xfrm>
        <a:graphic>
          <a:graphicData uri="http://schemas.openxmlformats.org/drawingml/2006/table">
            <a:tbl>
              <a:tblPr/>
              <a:tblGrid>
                <a:gridCol w="3678194">
                  <a:extLst>
                    <a:ext uri="{9D8B030D-6E8A-4147-A177-3AD203B41FA5}">
                      <a16:colId xmlns:a16="http://schemas.microsoft.com/office/drawing/2014/main" val="1500410487"/>
                    </a:ext>
                  </a:extLst>
                </a:gridCol>
                <a:gridCol w="2790048">
                  <a:extLst>
                    <a:ext uri="{9D8B030D-6E8A-4147-A177-3AD203B41FA5}">
                      <a16:colId xmlns:a16="http://schemas.microsoft.com/office/drawing/2014/main" val="799092149"/>
                    </a:ext>
                  </a:extLst>
                </a:gridCol>
                <a:gridCol w="1649414">
                  <a:extLst>
                    <a:ext uri="{9D8B030D-6E8A-4147-A177-3AD203B41FA5}">
                      <a16:colId xmlns:a16="http://schemas.microsoft.com/office/drawing/2014/main" val="3717339310"/>
                    </a:ext>
                  </a:extLst>
                </a:gridCol>
              </a:tblGrid>
              <a:tr h="4024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Coefficient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Estimate (SE)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p-value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930689"/>
                  </a:ext>
                </a:extLst>
              </a:tr>
              <a:tr h="3698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(Intercept)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6.6938 (0.0221)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&lt; 0.0001</a:t>
                      </a:r>
                      <a:r>
                        <a:rPr lang="zh-CN" sz="15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*</a:t>
                      </a:r>
                      <a:endParaRPr lang="zh-CN" sz="1500" b="0" i="0" u="none" strike="noStrike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038136"/>
                  </a:ext>
                </a:extLst>
              </a:tr>
              <a:tr h="3698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Trial type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0.1874 (0.0080)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&lt; 0.0001</a:t>
                      </a:r>
                      <a:r>
                        <a:rPr lang="zh-CN" sz="15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*</a:t>
                      </a:r>
                      <a:endParaRPr lang="zh-CN" sz="1500" b="0" i="0" u="none" strike="noStrike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713791"/>
                  </a:ext>
                </a:extLst>
              </a:tr>
              <a:tr h="3698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Reward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0.0146 (0.0082)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0.0756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479523"/>
                  </a:ext>
                </a:extLst>
              </a:tr>
              <a:tr h="3698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NFC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0.0071 (0.0221)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0.7482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859115"/>
                  </a:ext>
                </a:extLst>
              </a:tr>
              <a:tr h="3698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Block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−0.1099 (0.0057)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&lt; 0.0001</a:t>
                      </a:r>
                      <a:r>
                        <a:rPr lang="zh-CN" sz="15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*</a:t>
                      </a:r>
                      <a:endParaRPr lang="zh-CN" sz="1500" b="0" i="0" u="none" strike="noStrike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354524"/>
                  </a:ext>
                </a:extLst>
              </a:tr>
              <a:tr h="3698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Trial type × reward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−0.0195 (0.0113)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0.0851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786436"/>
                  </a:ext>
                </a:extLst>
              </a:tr>
              <a:tr h="3698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Trial type × NFC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−0.0158 (0.0080)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0.0477</a:t>
                      </a:r>
                      <a:r>
                        <a:rPr lang="zh-CN" sz="15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*</a:t>
                      </a:r>
                      <a:endParaRPr lang="zh-CN" sz="1500" b="0" i="0" u="none" strike="noStrike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394036"/>
                  </a:ext>
                </a:extLst>
              </a:tr>
              <a:tr h="3698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Reward × NFC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−0.0363 (0.0082)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&lt; 0.0001</a:t>
                      </a:r>
                      <a:r>
                        <a:rPr lang="zh-CN" sz="15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*</a:t>
                      </a:r>
                      <a:endParaRPr 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872144"/>
                  </a:ext>
                </a:extLst>
              </a:tr>
              <a:tr h="5906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Trial type × reward × NFC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0.0350 (0.0113)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0.0020</a:t>
                      </a:r>
                      <a:r>
                        <a:rPr lang="zh-CN" sz="15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*</a:t>
                      </a:r>
                      <a:endParaRPr 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886079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9DFDD4ED-7B8C-6B84-5FCC-F1D8A9C2521D}"/>
              </a:ext>
            </a:extLst>
          </p:cNvPr>
          <p:cNvSpPr/>
          <p:nvPr/>
        </p:nvSpPr>
        <p:spPr>
          <a:xfrm>
            <a:off x="9703485" y="8460541"/>
            <a:ext cx="7991856" cy="324000"/>
          </a:xfrm>
          <a:prstGeom prst="rect">
            <a:avLst/>
          </a:prstGeom>
          <a:noFill/>
          <a:ln>
            <a:solidFill>
              <a:srgbClr val="E286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922A61-E9C6-B9EE-AF47-6423AD878913}"/>
              </a:ext>
            </a:extLst>
          </p:cNvPr>
          <p:cNvSpPr/>
          <p:nvPr/>
        </p:nvSpPr>
        <p:spPr>
          <a:xfrm>
            <a:off x="708445" y="8305798"/>
            <a:ext cx="7991856" cy="324000"/>
          </a:xfrm>
          <a:prstGeom prst="rect">
            <a:avLst/>
          </a:prstGeom>
          <a:noFill/>
          <a:ln>
            <a:solidFill>
              <a:srgbClr val="E286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9524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B36E8-9DDF-7809-67FB-3E1768BD9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6D4895A5-2535-6D6B-73A1-A0291C369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92"/>
            <a:ext cx="18287999" cy="10286999"/>
          </a:xfrm>
          <a:prstGeom prst="rect">
            <a:avLst/>
          </a:prstGeom>
        </p:spPr>
      </p:pic>
      <p:pic>
        <p:nvPicPr>
          <p:cNvPr id="10" name="object 3">
            <a:extLst>
              <a:ext uri="{FF2B5EF4-FFF2-40B4-BE49-F238E27FC236}">
                <a16:creationId xmlns:a16="http://schemas.microsoft.com/office/drawing/2014/main" id="{1A5D9C76-E7E4-2A79-96B7-E523AA49E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8120" y="6201918"/>
            <a:ext cx="3219878" cy="4084989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43DF9F41-96EF-A267-85B4-8C17DD091F98}"/>
              </a:ext>
            </a:extLst>
          </p:cNvPr>
          <p:cNvSpPr txBox="1"/>
          <p:nvPr/>
        </p:nvSpPr>
        <p:spPr>
          <a:xfrm>
            <a:off x="206271" y="180753"/>
            <a:ext cx="8150919" cy="33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dirty="0">
                <a:solidFill>
                  <a:schemeClr val="bg1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3</a:t>
            </a:r>
            <a:r>
              <a:rPr lang="zh-CN" altLang="en-US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 结果复现</a:t>
            </a:r>
            <a:endParaRPr sz="2200" b="1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8AE91318-D924-F74C-7093-ABF86F8FC404}"/>
              </a:ext>
            </a:extLst>
          </p:cNvPr>
          <p:cNvSpPr txBox="1"/>
          <p:nvPr/>
        </p:nvSpPr>
        <p:spPr>
          <a:xfrm>
            <a:off x="1142366" y="1115036"/>
            <a:ext cx="16422620" cy="421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⑤</a:t>
            </a:r>
            <a:r>
              <a:rPr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switch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×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reward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× NFC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zh-CN" altLang="e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的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三重交互作用</a:t>
            </a:r>
            <a:endParaRPr sz="2800" b="1" dirty="0">
              <a:solidFill>
                <a:srgbClr val="E2869C"/>
              </a:solidFill>
              <a:latin typeface="Microsoft YaHei"/>
              <a:ea typeface="Microsoft YaHe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314079C-CEC0-405B-6A6C-53C48289EA6F}"/>
              </a:ext>
            </a:extLst>
          </p:cNvPr>
          <p:cNvSpPr txBox="1"/>
          <p:nvPr/>
        </p:nvSpPr>
        <p:spPr>
          <a:xfrm>
            <a:off x="715387" y="9171964"/>
            <a:ext cx="15906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bg1"/>
                </a:solidFill>
              </a:rPr>
              <a:t>复现结果：</a:t>
            </a:r>
            <a:r>
              <a:rPr lang="zh-CN" altLang="zh-CN" sz="2400" dirty="0"/>
              <a:t> </a:t>
            </a:r>
            <a:r>
              <a:rPr lang="zh-CN" altLang="zh-CN" sz="2400" dirty="0">
                <a:solidFill>
                  <a:schemeClr val="bg1"/>
                </a:solidFill>
              </a:rPr>
              <a:t>Switch×reward×</a:t>
            </a:r>
            <a:r>
              <a:rPr lang="en-US" altLang="zh-CN" sz="2400" dirty="0">
                <a:solidFill>
                  <a:schemeClr val="bg1"/>
                </a:solidFill>
              </a:rPr>
              <a:t>NFC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kumimoji="1" lang="zh-CN" altLang="en-US" sz="2400" dirty="0">
                <a:solidFill>
                  <a:schemeClr val="bg1"/>
                </a:solidFill>
              </a:rPr>
              <a:t>三重交互显著，与原文献一致</a:t>
            </a:r>
            <a:endParaRPr lang="zh-CN" altLang="zh-CN" sz="2400" dirty="0">
              <a:solidFill>
                <a:schemeClr val="bg1"/>
              </a:solidFill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B07B527-D7D4-039B-75CD-7845A6A31103}"/>
              </a:ext>
            </a:extLst>
          </p:cNvPr>
          <p:cNvGrpSpPr/>
          <p:nvPr/>
        </p:nvGrpSpPr>
        <p:grpSpPr>
          <a:xfrm>
            <a:off x="715386" y="2473583"/>
            <a:ext cx="16774960" cy="6045103"/>
            <a:chOff x="715386" y="2473583"/>
            <a:chExt cx="16774960" cy="604510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4A666141-DB30-275F-0371-C7C526DC1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5386" y="2487308"/>
              <a:ext cx="8174604" cy="6031378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585E98D-5B9E-BF31-2436-4AFDDF4C9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53675" y="2473583"/>
              <a:ext cx="8136671" cy="60313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559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CCACB-2989-F5D4-301F-4FA9E7037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4740CB06-0298-9BF8-A3F9-1BA8BDFE1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92"/>
            <a:ext cx="18287999" cy="10286999"/>
          </a:xfrm>
          <a:prstGeom prst="rect">
            <a:avLst/>
          </a:prstGeom>
        </p:spPr>
      </p:pic>
      <p:pic>
        <p:nvPicPr>
          <p:cNvPr id="10" name="object 3">
            <a:extLst>
              <a:ext uri="{FF2B5EF4-FFF2-40B4-BE49-F238E27FC236}">
                <a16:creationId xmlns:a16="http://schemas.microsoft.com/office/drawing/2014/main" id="{6E8B30F8-43A8-F479-FABF-7DE7D3E29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8120" y="6201918"/>
            <a:ext cx="3219878" cy="4084989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564134E3-5872-83FC-3288-69F326813D17}"/>
              </a:ext>
            </a:extLst>
          </p:cNvPr>
          <p:cNvSpPr txBox="1"/>
          <p:nvPr/>
        </p:nvSpPr>
        <p:spPr>
          <a:xfrm>
            <a:off x="206271" y="180753"/>
            <a:ext cx="8150919" cy="33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dirty="0">
                <a:solidFill>
                  <a:schemeClr val="bg1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3</a:t>
            </a:r>
            <a:r>
              <a:rPr lang="zh-CN" altLang="en-US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 结果复现</a:t>
            </a:r>
            <a:endParaRPr sz="2200" b="1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FCDAD54E-1298-90CA-7AED-3F213B3AB891}"/>
              </a:ext>
            </a:extLst>
          </p:cNvPr>
          <p:cNvSpPr txBox="1"/>
          <p:nvPr/>
        </p:nvSpPr>
        <p:spPr>
          <a:xfrm>
            <a:off x="1142366" y="1115036"/>
            <a:ext cx="16422620" cy="421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⑤</a:t>
            </a:r>
            <a:r>
              <a:rPr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reward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effect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en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× NFC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zh-CN" altLang="e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的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相关</a:t>
            </a:r>
            <a:endParaRPr sz="2800" b="1" dirty="0">
              <a:solidFill>
                <a:srgbClr val="E2869C"/>
              </a:solidFill>
              <a:latin typeface="Microsoft YaHei"/>
              <a:ea typeface="Microsoft YaHe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64CB0D3-914C-355D-A4D4-B70A29B9C839}"/>
              </a:ext>
            </a:extLst>
          </p:cNvPr>
          <p:cNvSpPr txBox="1"/>
          <p:nvPr/>
        </p:nvSpPr>
        <p:spPr>
          <a:xfrm>
            <a:off x="715387" y="9171964"/>
            <a:ext cx="15906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bg1"/>
                </a:solidFill>
              </a:rPr>
              <a:t>复现结果：</a:t>
            </a:r>
            <a:r>
              <a:rPr lang="zh-CN" altLang="zh-CN" sz="2400" dirty="0">
                <a:solidFill>
                  <a:schemeClr val="bg1"/>
                </a:solidFill>
              </a:rPr>
              <a:t> reward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effect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zh-CN" altLang="zh-CN" sz="2400" dirty="0">
                <a:solidFill>
                  <a:schemeClr val="bg1"/>
                </a:solidFill>
              </a:rPr>
              <a:t>×</a:t>
            </a:r>
            <a:r>
              <a:rPr lang="en-US" altLang="zh-CN" sz="2400" dirty="0">
                <a:solidFill>
                  <a:schemeClr val="bg1"/>
                </a:solidFill>
              </a:rPr>
              <a:t>NFC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kumimoji="1" lang="zh-CN" altLang="en-US" sz="2400" dirty="0">
                <a:solidFill>
                  <a:schemeClr val="bg1"/>
                </a:solidFill>
              </a:rPr>
              <a:t>相关显著，与原文献一致</a:t>
            </a:r>
            <a:endParaRPr lang="zh-CN" altLang="zh-CN" sz="2400" dirty="0">
              <a:solidFill>
                <a:schemeClr val="bg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9B5A791-4856-81B4-EA3B-A0FA3C9CB918}"/>
              </a:ext>
            </a:extLst>
          </p:cNvPr>
          <p:cNvGrpSpPr/>
          <p:nvPr/>
        </p:nvGrpSpPr>
        <p:grpSpPr>
          <a:xfrm>
            <a:off x="418921" y="2379358"/>
            <a:ext cx="17252390" cy="5822133"/>
            <a:chOff x="312596" y="2379358"/>
            <a:chExt cx="17252390" cy="5822133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BB25862-3E43-ED86-9A0E-112618DC275B}"/>
                </a:ext>
              </a:extLst>
            </p:cNvPr>
            <p:cNvGrpSpPr/>
            <p:nvPr/>
          </p:nvGrpSpPr>
          <p:grpSpPr>
            <a:xfrm>
              <a:off x="312596" y="2405505"/>
              <a:ext cx="8788873" cy="5784425"/>
              <a:chOff x="206271" y="2379358"/>
              <a:chExt cx="8788873" cy="5784425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54EFC7B7-9A46-D9EA-DE06-1B232CF745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6271" y="2379358"/>
                <a:ext cx="8788873" cy="5784425"/>
              </a:xfrm>
              <a:prstGeom prst="rect">
                <a:avLst/>
              </a:prstGeom>
            </p:spPr>
          </p:pic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BA930B0-E829-DF50-2CA3-B150F8468EC4}"/>
                  </a:ext>
                </a:extLst>
              </p:cNvPr>
              <p:cNvSpPr txBox="1"/>
              <p:nvPr/>
            </p:nvSpPr>
            <p:spPr>
              <a:xfrm>
                <a:off x="2721935" y="2402958"/>
                <a:ext cx="274320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kumimoji="1" lang="zh-CN" altLang="en-US" dirty="0"/>
              </a:p>
            </p:txBody>
          </p:sp>
        </p:grp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04AF9A2-B919-B4F9-566D-C78353C8D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65886" y="2379358"/>
              <a:ext cx="7899100" cy="58221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2303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2" name="object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8120" y="6201918"/>
            <a:ext cx="3219878" cy="4084989"/>
          </a:xfrm>
          <a:prstGeom prst="rect">
            <a:avLst/>
          </a:prstGeom>
        </p:spPr>
      </p:pic>
      <p:pic>
        <p:nvPicPr>
          <p:cNvPr id="3" name="object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527" y="9"/>
            <a:ext cx="6669888" cy="5201119"/>
          </a:xfrm>
          <a:prstGeom prst="rect">
            <a:avLst/>
          </a:prstGeom>
        </p:spPr>
      </p:pic>
      <p:sp>
        <p:nvSpPr>
          <p:cNvPr id="16" name="TextBox 2">
            <a:extLst>
              <a:ext uri="{FF2B5EF4-FFF2-40B4-BE49-F238E27FC236}">
                <a16:creationId xmlns:a16="http://schemas.microsoft.com/office/drawing/2014/main" id="{6CC47F4A-8CD5-5CA8-2956-3AE21BD20F28}"/>
              </a:ext>
            </a:extLst>
          </p:cNvPr>
          <p:cNvSpPr txBox="1"/>
          <p:nvPr/>
        </p:nvSpPr>
        <p:spPr>
          <a:xfrm>
            <a:off x="206271" y="180753"/>
            <a:ext cx="8150919" cy="33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dirty="0">
                <a:solidFill>
                  <a:schemeClr val="bg1"/>
                </a:solidFill>
                <a:latin typeface="Microsoft YaHei"/>
                <a:ea typeface="Microsoft YaHei"/>
              </a:rPr>
              <a:t>0</a:t>
            </a:r>
            <a:r>
              <a:rPr lang="en-US" altLang="zh-CN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4</a:t>
            </a:r>
            <a:r>
              <a:rPr lang="zh-CN" altLang="en-US" sz="2200" b="1" dirty="0">
                <a:solidFill>
                  <a:schemeClr val="bg1"/>
                </a:solidFill>
                <a:latin typeface="Microsoft YaHei"/>
                <a:ea typeface="Microsoft YaHei"/>
              </a:rPr>
              <a:t> 复现评估</a:t>
            </a:r>
            <a:endParaRPr sz="2200" b="1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83E8F84-C715-6937-FE1B-57703C869685}"/>
              </a:ext>
            </a:extLst>
          </p:cNvPr>
          <p:cNvGrpSpPr/>
          <p:nvPr/>
        </p:nvGrpSpPr>
        <p:grpSpPr>
          <a:xfrm>
            <a:off x="932689" y="1963619"/>
            <a:ext cx="15828264" cy="1426464"/>
            <a:chOff x="894199" y="2143331"/>
            <a:chExt cx="15828264" cy="1426464"/>
          </a:xfrm>
        </p:grpSpPr>
        <p:sp>
          <p:nvSpPr>
            <p:cNvPr id="17" name="Rounded Rectangle 3">
              <a:extLst>
                <a:ext uri="{FF2B5EF4-FFF2-40B4-BE49-F238E27FC236}">
                  <a16:creationId xmlns:a16="http://schemas.microsoft.com/office/drawing/2014/main" id="{BEF5B0A4-15AB-D7F7-7789-D946032F8016}"/>
                </a:ext>
              </a:extLst>
            </p:cNvPr>
            <p:cNvSpPr/>
            <p:nvPr/>
          </p:nvSpPr>
          <p:spPr>
            <a:xfrm>
              <a:off x="894199" y="2143331"/>
              <a:ext cx="15828264" cy="1426464"/>
            </a:xfrm>
            <a:prstGeom prst="roundRect">
              <a:avLst/>
            </a:prstGeom>
            <a:solidFill>
              <a:srgbClr val="361228"/>
            </a:solidFill>
            <a:ln w="19050">
              <a:solidFill>
                <a:srgbClr val="4C19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18" name="Oval 4">
              <a:extLst>
                <a:ext uri="{FF2B5EF4-FFF2-40B4-BE49-F238E27FC236}">
                  <a16:creationId xmlns:a16="http://schemas.microsoft.com/office/drawing/2014/main" id="{804008BB-39B2-DE43-D9A4-379D752DDABE}"/>
                </a:ext>
              </a:extLst>
            </p:cNvPr>
            <p:cNvSpPr/>
            <p:nvPr/>
          </p:nvSpPr>
          <p:spPr>
            <a:xfrm>
              <a:off x="1237099" y="2513662"/>
              <a:ext cx="685800" cy="685800"/>
            </a:xfrm>
            <a:prstGeom prst="ellipse">
              <a:avLst/>
            </a:prstGeom>
            <a:solidFill>
              <a:srgbClr val="3C8C5C"/>
            </a:solidFill>
            <a:ln>
              <a:solidFill>
                <a:srgbClr val="4C19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sz="3000" b="1" dirty="0">
                  <a:solidFill>
                    <a:srgbClr val="FFFFFF"/>
                  </a:solidFill>
                  <a:latin typeface="Microsoft YaHei"/>
                </a:rPr>
                <a:t>✓</a:t>
              </a:r>
            </a:p>
          </p:txBody>
        </p:sp>
        <p:sp>
          <p:nvSpPr>
            <p:cNvPr id="19" name="TextBox 5">
              <a:extLst>
                <a:ext uri="{FF2B5EF4-FFF2-40B4-BE49-F238E27FC236}">
                  <a16:creationId xmlns:a16="http://schemas.microsoft.com/office/drawing/2014/main" id="{3BCF7B74-ACB0-3B75-72FA-A39415434D8D}"/>
                </a:ext>
              </a:extLst>
            </p:cNvPr>
            <p:cNvSpPr txBox="1"/>
            <p:nvPr/>
          </p:nvSpPr>
          <p:spPr>
            <a:xfrm>
              <a:off x="2402959" y="2692050"/>
              <a:ext cx="5760720" cy="38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4000"/>
                </a:lnSpc>
                <a:spcAft>
                  <a:spcPts val="600"/>
                </a:spcAft>
              </a:pPr>
              <a:r>
                <a:rPr sz="2550" b="1" dirty="0">
                  <a:solidFill>
                    <a:srgbClr val="FFFFFF"/>
                  </a:solidFill>
                  <a:latin typeface="Microsoft YaHei"/>
                  <a:ea typeface="Microsoft YaHei"/>
                </a:rPr>
                <a:t>Stroop </a:t>
              </a:r>
              <a:r>
                <a:rPr sz="2550" b="1" dirty="0" err="1">
                  <a:solidFill>
                    <a:srgbClr val="FFFFFF"/>
                  </a:solidFill>
                  <a:latin typeface="Microsoft YaHei"/>
                  <a:ea typeface="Microsoft YaHei"/>
                </a:rPr>
                <a:t>干扰效应</a:t>
              </a:r>
              <a:endParaRPr sz="2550" b="1" dirty="0">
                <a:solidFill>
                  <a:srgbClr val="FFFFFF"/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20" name="TextBox 6">
              <a:extLst>
                <a:ext uri="{FF2B5EF4-FFF2-40B4-BE49-F238E27FC236}">
                  <a16:creationId xmlns:a16="http://schemas.microsoft.com/office/drawing/2014/main" id="{9BDA6657-C860-D269-864D-7C4E98084EB3}"/>
                </a:ext>
              </a:extLst>
            </p:cNvPr>
            <p:cNvSpPr txBox="1"/>
            <p:nvPr/>
          </p:nvSpPr>
          <p:spPr>
            <a:xfrm>
              <a:off x="8300839" y="2688791"/>
              <a:ext cx="8229600" cy="33554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12000"/>
                </a:lnSpc>
                <a:spcAft>
                  <a:spcPts val="600"/>
                </a:spcAft>
              </a:pPr>
              <a:r>
                <a:rPr sz="2100" dirty="0" err="1">
                  <a:solidFill>
                    <a:srgbClr val="F0D6E2"/>
                  </a:solidFill>
                  <a:latin typeface="Microsoft YaHei"/>
                  <a:ea typeface="Microsoft YaHei"/>
                </a:rPr>
                <a:t>不一致试次更慢、更易错</a:t>
              </a:r>
              <a:r>
                <a:rPr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。</a:t>
              </a:r>
              <a:r>
                <a:rPr lang="zh-CN" altLang="en-US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  复现 </a:t>
              </a:r>
              <a:r>
                <a:rPr lang="el-GR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β=0.</a:t>
              </a:r>
              <a:r>
                <a:rPr lang="en-US" altLang="zh-CN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183</a:t>
              </a:r>
              <a:r>
                <a:rPr lang="el-GR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, </a:t>
              </a:r>
              <a:r>
                <a:rPr lang="en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p&lt;.0001</a:t>
              </a:r>
              <a:endParaRPr sz="2100" dirty="0">
                <a:solidFill>
                  <a:srgbClr val="F0D6E2"/>
                </a:solidFill>
                <a:latin typeface="Microsoft YaHei"/>
                <a:ea typeface="Microsoft YaHei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7F0819D-2806-2A26-7921-1DFF74820137}"/>
              </a:ext>
            </a:extLst>
          </p:cNvPr>
          <p:cNvGrpSpPr/>
          <p:nvPr/>
        </p:nvGrpSpPr>
        <p:grpSpPr>
          <a:xfrm>
            <a:off x="932689" y="3959830"/>
            <a:ext cx="15828264" cy="1426464"/>
            <a:chOff x="1234440" y="4293108"/>
            <a:chExt cx="15828264" cy="1426464"/>
          </a:xfrm>
        </p:grpSpPr>
        <p:sp>
          <p:nvSpPr>
            <p:cNvPr id="21" name="Rounded Rectangle 7">
              <a:extLst>
                <a:ext uri="{FF2B5EF4-FFF2-40B4-BE49-F238E27FC236}">
                  <a16:creationId xmlns:a16="http://schemas.microsoft.com/office/drawing/2014/main" id="{B53B7FEC-BA6E-8E16-38D8-9488F527BE94}"/>
                </a:ext>
              </a:extLst>
            </p:cNvPr>
            <p:cNvSpPr/>
            <p:nvPr/>
          </p:nvSpPr>
          <p:spPr>
            <a:xfrm>
              <a:off x="1234440" y="4293108"/>
              <a:ext cx="15828264" cy="1426464"/>
            </a:xfrm>
            <a:prstGeom prst="roundRect">
              <a:avLst/>
            </a:prstGeom>
            <a:solidFill>
              <a:srgbClr val="361228"/>
            </a:solidFill>
            <a:ln w="19050">
              <a:solidFill>
                <a:srgbClr val="4C19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22" name="Oval 8">
              <a:extLst>
                <a:ext uri="{FF2B5EF4-FFF2-40B4-BE49-F238E27FC236}">
                  <a16:creationId xmlns:a16="http://schemas.microsoft.com/office/drawing/2014/main" id="{BEA00D06-7B23-2458-182F-0247214C57F9}"/>
                </a:ext>
              </a:extLst>
            </p:cNvPr>
            <p:cNvSpPr/>
            <p:nvPr/>
          </p:nvSpPr>
          <p:spPr>
            <a:xfrm>
              <a:off x="1577340" y="4663440"/>
              <a:ext cx="685800" cy="685800"/>
            </a:xfrm>
            <a:prstGeom prst="ellipse">
              <a:avLst/>
            </a:prstGeom>
            <a:solidFill>
              <a:srgbClr val="3C8C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Microsoft YaHei"/>
                </a:rPr>
                <a:t>✓</a:t>
              </a:r>
            </a:p>
          </p:txBody>
        </p:sp>
        <p:sp>
          <p:nvSpPr>
            <p:cNvPr id="23" name="TextBox 9">
              <a:extLst>
                <a:ext uri="{FF2B5EF4-FFF2-40B4-BE49-F238E27FC236}">
                  <a16:creationId xmlns:a16="http://schemas.microsoft.com/office/drawing/2014/main" id="{7B6DA80B-557B-8BC2-E702-D43E4FCF5B0E}"/>
                </a:ext>
              </a:extLst>
            </p:cNvPr>
            <p:cNvSpPr txBox="1"/>
            <p:nvPr/>
          </p:nvSpPr>
          <p:spPr>
            <a:xfrm>
              <a:off x="2743200" y="4841828"/>
              <a:ext cx="5760720" cy="38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4000"/>
                </a:lnSpc>
                <a:spcAft>
                  <a:spcPts val="600"/>
                </a:spcAft>
              </a:pPr>
              <a:r>
                <a:rPr lang="en-US" sz="2550" b="1" dirty="0">
                  <a:solidFill>
                    <a:srgbClr val="FFFFFF"/>
                  </a:solidFill>
                  <a:latin typeface="Microsoft YaHei"/>
                  <a:ea typeface="Microsoft YaHei"/>
                </a:rPr>
                <a:t>Task-switch cost</a:t>
              </a:r>
              <a:endParaRPr sz="2550" b="1" dirty="0">
                <a:solidFill>
                  <a:srgbClr val="FFFFFF"/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24" name="TextBox 10">
              <a:extLst>
                <a:ext uri="{FF2B5EF4-FFF2-40B4-BE49-F238E27FC236}">
                  <a16:creationId xmlns:a16="http://schemas.microsoft.com/office/drawing/2014/main" id="{6770E4ED-30CF-A347-F71B-18D0AFDF0C8C}"/>
                </a:ext>
              </a:extLst>
            </p:cNvPr>
            <p:cNvSpPr txBox="1"/>
            <p:nvPr/>
          </p:nvSpPr>
          <p:spPr>
            <a:xfrm>
              <a:off x="8641080" y="4838570"/>
              <a:ext cx="8229600" cy="33554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12000"/>
                </a:lnSpc>
                <a:spcAft>
                  <a:spcPts val="600"/>
                </a:spcAft>
              </a:pPr>
              <a:r>
                <a:rPr sz="2100" dirty="0" err="1">
                  <a:solidFill>
                    <a:srgbClr val="F0D6E2"/>
                  </a:solidFill>
                  <a:latin typeface="Microsoft YaHei"/>
                  <a:ea typeface="Microsoft YaHei"/>
                </a:rPr>
                <a:t>切换试次显著慢于重复</a:t>
              </a:r>
              <a:r>
                <a:rPr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。</a:t>
              </a:r>
              <a:r>
                <a:rPr lang="zh-CN" altLang="en-US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  复现 </a:t>
              </a:r>
              <a:r>
                <a:rPr lang="el-GR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β=0.17</a:t>
              </a:r>
              <a:r>
                <a:rPr lang="en-US" altLang="zh-CN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6</a:t>
              </a:r>
              <a:r>
                <a:rPr lang="el-GR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, </a:t>
              </a:r>
              <a:r>
                <a:rPr lang="en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p&lt;.0001</a:t>
              </a:r>
              <a:endParaRPr sz="2100" dirty="0">
                <a:solidFill>
                  <a:srgbClr val="F0D6E2"/>
                </a:solidFill>
                <a:latin typeface="Microsoft YaHei"/>
                <a:ea typeface="Microsoft YaHei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48EFD0-6345-5CE8-20DD-49859C87E456}"/>
              </a:ext>
            </a:extLst>
          </p:cNvPr>
          <p:cNvGrpSpPr/>
          <p:nvPr/>
        </p:nvGrpSpPr>
        <p:grpSpPr>
          <a:xfrm>
            <a:off x="932689" y="5920093"/>
            <a:ext cx="15828264" cy="1426464"/>
            <a:chOff x="1234440" y="5911595"/>
            <a:chExt cx="15828264" cy="1426464"/>
          </a:xfrm>
        </p:grpSpPr>
        <p:sp>
          <p:nvSpPr>
            <p:cNvPr id="27" name="Rounded Rectangle 11">
              <a:extLst>
                <a:ext uri="{FF2B5EF4-FFF2-40B4-BE49-F238E27FC236}">
                  <a16:creationId xmlns:a16="http://schemas.microsoft.com/office/drawing/2014/main" id="{A5D0B9A8-8E8E-B5A9-06B4-5924EF8F2EB3}"/>
                </a:ext>
              </a:extLst>
            </p:cNvPr>
            <p:cNvSpPr/>
            <p:nvPr/>
          </p:nvSpPr>
          <p:spPr>
            <a:xfrm>
              <a:off x="1234440" y="5911595"/>
              <a:ext cx="15828264" cy="1426464"/>
            </a:xfrm>
            <a:prstGeom prst="roundRect">
              <a:avLst/>
            </a:prstGeom>
            <a:solidFill>
              <a:srgbClr val="361228"/>
            </a:solidFill>
            <a:ln w="19050">
              <a:solidFill>
                <a:srgbClr val="4C19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28" name="Oval 12">
              <a:extLst>
                <a:ext uri="{FF2B5EF4-FFF2-40B4-BE49-F238E27FC236}">
                  <a16:creationId xmlns:a16="http://schemas.microsoft.com/office/drawing/2014/main" id="{561E4934-31F7-DD4F-014E-5760B1F85515}"/>
                </a:ext>
              </a:extLst>
            </p:cNvPr>
            <p:cNvSpPr/>
            <p:nvPr/>
          </p:nvSpPr>
          <p:spPr>
            <a:xfrm>
              <a:off x="1577340" y="6281928"/>
              <a:ext cx="685800" cy="685800"/>
            </a:xfrm>
            <a:prstGeom prst="ellipse">
              <a:avLst/>
            </a:prstGeom>
            <a:solidFill>
              <a:srgbClr val="3C8C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Microsoft YaHei"/>
                </a:rPr>
                <a:t>✓</a:t>
              </a:r>
            </a:p>
          </p:txBody>
        </p:sp>
        <p:sp>
          <p:nvSpPr>
            <p:cNvPr id="29" name="TextBox 13">
              <a:extLst>
                <a:ext uri="{FF2B5EF4-FFF2-40B4-BE49-F238E27FC236}">
                  <a16:creationId xmlns:a16="http://schemas.microsoft.com/office/drawing/2014/main" id="{EE5E5ABB-9D9E-25BF-2E48-3122262A3F91}"/>
                </a:ext>
              </a:extLst>
            </p:cNvPr>
            <p:cNvSpPr txBox="1"/>
            <p:nvPr/>
          </p:nvSpPr>
          <p:spPr>
            <a:xfrm>
              <a:off x="2743200" y="6460315"/>
              <a:ext cx="5760720" cy="38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4000"/>
                </a:lnSpc>
                <a:spcAft>
                  <a:spcPts val="600"/>
                </a:spcAft>
              </a:pPr>
              <a:r>
                <a:rPr sz="2550" b="1" dirty="0">
                  <a:solidFill>
                    <a:srgbClr val="FFFFFF"/>
                  </a:solidFill>
                  <a:latin typeface="Microsoft YaHei"/>
                  <a:ea typeface="Microsoft YaHei"/>
                </a:rPr>
                <a:t>NFC × </a:t>
              </a:r>
              <a:r>
                <a:rPr lang="en-US" sz="2550" b="1" dirty="0">
                  <a:solidFill>
                    <a:srgbClr val="FFFFFF"/>
                  </a:solidFill>
                  <a:latin typeface="Microsoft YaHei"/>
                  <a:ea typeface="Microsoft YaHei"/>
                </a:rPr>
                <a:t>reward</a:t>
              </a:r>
              <a:r>
                <a:rPr sz="2550" b="1" dirty="0">
                  <a:solidFill>
                    <a:srgbClr val="FFFFFF"/>
                  </a:solidFill>
                  <a:latin typeface="Microsoft YaHei"/>
                  <a:ea typeface="Microsoft YaHei"/>
                </a:rPr>
                <a:t> × </a:t>
              </a:r>
              <a:r>
                <a:rPr lang="en-US" sz="2550" b="1" dirty="0">
                  <a:solidFill>
                    <a:srgbClr val="FFFFFF"/>
                  </a:solidFill>
                  <a:latin typeface="Microsoft YaHei"/>
                  <a:ea typeface="Microsoft YaHei"/>
                </a:rPr>
                <a:t>switch</a:t>
              </a:r>
              <a:r>
                <a:rPr sz="2550" b="1" dirty="0">
                  <a:solidFill>
                    <a:srgbClr val="FFFFFF"/>
                  </a:solidFill>
                  <a:latin typeface="Microsoft YaHei"/>
                  <a:ea typeface="Microsoft YaHei"/>
                </a:rPr>
                <a:t> </a:t>
              </a:r>
              <a:r>
                <a:rPr sz="2550" b="1" dirty="0" err="1">
                  <a:solidFill>
                    <a:srgbClr val="FFFFFF"/>
                  </a:solidFill>
                  <a:latin typeface="Microsoft YaHei"/>
                  <a:ea typeface="Microsoft YaHei"/>
                </a:rPr>
                <a:t>三重交互</a:t>
              </a:r>
              <a:endParaRPr sz="2550" b="1" dirty="0">
                <a:solidFill>
                  <a:srgbClr val="FFFFFF"/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30" name="TextBox 14">
              <a:extLst>
                <a:ext uri="{FF2B5EF4-FFF2-40B4-BE49-F238E27FC236}">
                  <a16:creationId xmlns:a16="http://schemas.microsoft.com/office/drawing/2014/main" id="{496AC5AD-D8DE-BE41-5C1B-77106508D8D1}"/>
                </a:ext>
              </a:extLst>
            </p:cNvPr>
            <p:cNvSpPr txBox="1"/>
            <p:nvPr/>
          </p:nvSpPr>
          <p:spPr>
            <a:xfrm>
              <a:off x="8641080" y="6457056"/>
              <a:ext cx="8229600" cy="33554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12000"/>
                </a:lnSpc>
                <a:spcAft>
                  <a:spcPts val="600"/>
                </a:spcAft>
              </a:pPr>
              <a:r>
                <a:rPr sz="2100" dirty="0" err="1">
                  <a:solidFill>
                    <a:srgbClr val="F0D6E2"/>
                  </a:solidFill>
                  <a:latin typeface="Microsoft YaHei"/>
                  <a:ea typeface="Microsoft YaHei"/>
                </a:rPr>
                <a:t>复现成功</a:t>
              </a:r>
              <a:r>
                <a:rPr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。</a:t>
              </a:r>
              <a:r>
                <a:rPr lang="zh-CN" altLang="en-US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  复现 </a:t>
              </a:r>
              <a:r>
                <a:rPr lang="en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p=.002 / </a:t>
              </a:r>
              <a:r>
                <a:rPr lang="zh-CN" altLang="en-US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原文 </a:t>
              </a:r>
              <a:r>
                <a:rPr lang="en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p=.008 —— </a:t>
              </a:r>
              <a:r>
                <a:rPr lang="zh-CN" altLang="en-US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推论一致</a:t>
              </a:r>
              <a:endParaRPr sz="2100" dirty="0">
                <a:solidFill>
                  <a:srgbClr val="F0D6E2"/>
                </a:solidFill>
                <a:latin typeface="Microsoft YaHei"/>
                <a:ea typeface="Microsoft YaHei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08E6FE1-FC23-C428-AA67-0B9869654CF4}"/>
              </a:ext>
            </a:extLst>
          </p:cNvPr>
          <p:cNvGrpSpPr/>
          <p:nvPr/>
        </p:nvGrpSpPr>
        <p:grpSpPr>
          <a:xfrm>
            <a:off x="932689" y="7953050"/>
            <a:ext cx="15828264" cy="1426464"/>
            <a:chOff x="894199" y="8239970"/>
            <a:chExt cx="15828264" cy="1426464"/>
          </a:xfrm>
        </p:grpSpPr>
        <p:sp>
          <p:nvSpPr>
            <p:cNvPr id="32" name="Rounded Rectangle 15">
              <a:extLst>
                <a:ext uri="{FF2B5EF4-FFF2-40B4-BE49-F238E27FC236}">
                  <a16:creationId xmlns:a16="http://schemas.microsoft.com/office/drawing/2014/main" id="{719EC792-3DF2-C4ED-B7A0-B305336A8EB6}"/>
                </a:ext>
              </a:extLst>
            </p:cNvPr>
            <p:cNvSpPr/>
            <p:nvPr/>
          </p:nvSpPr>
          <p:spPr>
            <a:xfrm>
              <a:off x="894199" y="8239970"/>
              <a:ext cx="15828264" cy="1426464"/>
            </a:xfrm>
            <a:prstGeom prst="roundRect">
              <a:avLst/>
            </a:prstGeom>
            <a:solidFill>
              <a:srgbClr val="361228"/>
            </a:solidFill>
            <a:ln w="19050">
              <a:solidFill>
                <a:srgbClr val="4C19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33" name="Oval 16">
              <a:extLst>
                <a:ext uri="{FF2B5EF4-FFF2-40B4-BE49-F238E27FC236}">
                  <a16:creationId xmlns:a16="http://schemas.microsoft.com/office/drawing/2014/main" id="{980512EB-03C2-A258-526C-301B5763010B}"/>
                </a:ext>
              </a:extLst>
            </p:cNvPr>
            <p:cNvSpPr/>
            <p:nvPr/>
          </p:nvSpPr>
          <p:spPr>
            <a:xfrm>
              <a:off x="1237099" y="8610302"/>
              <a:ext cx="685800" cy="685800"/>
            </a:xfrm>
            <a:prstGeom prst="ellipse">
              <a:avLst/>
            </a:prstGeom>
            <a:solidFill>
              <a:srgbClr val="B03C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Microsoft YaHei"/>
                </a:rPr>
                <a:t>✕</a:t>
              </a:r>
            </a:p>
          </p:txBody>
        </p:sp>
        <p:sp>
          <p:nvSpPr>
            <p:cNvPr id="34" name="TextBox 17">
              <a:extLst>
                <a:ext uri="{FF2B5EF4-FFF2-40B4-BE49-F238E27FC236}">
                  <a16:creationId xmlns:a16="http://schemas.microsoft.com/office/drawing/2014/main" id="{4AEFB602-037A-D760-04B4-11AF0DCC2305}"/>
                </a:ext>
              </a:extLst>
            </p:cNvPr>
            <p:cNvSpPr txBox="1"/>
            <p:nvPr/>
          </p:nvSpPr>
          <p:spPr>
            <a:xfrm>
              <a:off x="2402959" y="8788690"/>
              <a:ext cx="5760720" cy="38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4000"/>
                </a:lnSpc>
                <a:spcAft>
                  <a:spcPts val="600"/>
                </a:spcAft>
              </a:pPr>
              <a:r>
                <a:rPr sz="2550" b="1" dirty="0">
                  <a:solidFill>
                    <a:srgbClr val="FFFFFF"/>
                  </a:solidFill>
                  <a:latin typeface="Microsoft YaHei"/>
                  <a:ea typeface="Microsoft YaHei"/>
                </a:rPr>
                <a:t>EF × </a:t>
              </a:r>
              <a:r>
                <a:rPr lang="en-US" sz="2550" b="1" dirty="0">
                  <a:solidFill>
                    <a:srgbClr val="FFFFFF"/>
                  </a:solidFill>
                  <a:latin typeface="Microsoft YaHei"/>
                  <a:ea typeface="Microsoft YaHei"/>
                </a:rPr>
                <a:t>reward</a:t>
              </a:r>
              <a:r>
                <a:rPr sz="2550" b="1" dirty="0">
                  <a:solidFill>
                    <a:srgbClr val="FFFFFF"/>
                  </a:solidFill>
                  <a:latin typeface="Microsoft YaHei"/>
                  <a:ea typeface="Microsoft YaHei"/>
                </a:rPr>
                <a:t> × </a:t>
              </a:r>
              <a:r>
                <a:rPr lang="en-US" sz="2550" b="1" dirty="0">
                  <a:solidFill>
                    <a:srgbClr val="FFFFFF"/>
                  </a:solidFill>
                  <a:latin typeface="Microsoft YaHei"/>
                  <a:ea typeface="Microsoft YaHei"/>
                </a:rPr>
                <a:t>switch</a:t>
              </a:r>
              <a:r>
                <a:rPr sz="2550" b="1" dirty="0">
                  <a:solidFill>
                    <a:srgbClr val="FFFFFF"/>
                  </a:solidFill>
                  <a:latin typeface="Microsoft YaHei"/>
                  <a:ea typeface="Microsoft YaHei"/>
                </a:rPr>
                <a:t> </a:t>
              </a:r>
              <a:r>
                <a:rPr sz="2550" b="1" dirty="0" err="1">
                  <a:solidFill>
                    <a:srgbClr val="FFFFFF"/>
                  </a:solidFill>
                  <a:latin typeface="Microsoft YaHei"/>
                  <a:ea typeface="Microsoft YaHei"/>
                </a:rPr>
                <a:t>三重交互</a:t>
              </a:r>
              <a:endParaRPr sz="2550" b="1" dirty="0">
                <a:solidFill>
                  <a:srgbClr val="FFFFFF"/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35" name="TextBox 18">
              <a:extLst>
                <a:ext uri="{FF2B5EF4-FFF2-40B4-BE49-F238E27FC236}">
                  <a16:creationId xmlns:a16="http://schemas.microsoft.com/office/drawing/2014/main" id="{FAE1800E-AFCA-89B2-F59B-36EB6F5D1AAA}"/>
                </a:ext>
              </a:extLst>
            </p:cNvPr>
            <p:cNvSpPr txBox="1"/>
            <p:nvPr/>
          </p:nvSpPr>
          <p:spPr>
            <a:xfrm>
              <a:off x="8300839" y="8785432"/>
              <a:ext cx="8229600" cy="33554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12000"/>
                </a:lnSpc>
                <a:spcAft>
                  <a:spcPts val="600"/>
                </a:spcAft>
              </a:pPr>
              <a:r>
                <a:rPr sz="2100" dirty="0" err="1">
                  <a:solidFill>
                    <a:srgbClr val="F0D6E2"/>
                  </a:solidFill>
                  <a:latin typeface="Microsoft YaHei"/>
                  <a:ea typeface="Microsoft YaHei"/>
                </a:rPr>
                <a:t>未复现</a:t>
              </a:r>
              <a:r>
                <a:rPr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。</a:t>
              </a:r>
              <a:r>
                <a:rPr lang="zh-CN" altLang="en-US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  复现 </a:t>
              </a:r>
              <a:r>
                <a:rPr lang="en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p=.11</a:t>
              </a:r>
              <a:r>
                <a:rPr lang="en-US" altLang="zh-CN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1</a:t>
              </a:r>
              <a:r>
                <a:rPr lang="en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 / </a:t>
              </a:r>
              <a:r>
                <a:rPr lang="zh-CN" altLang="en-US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原文 </a:t>
              </a:r>
              <a:r>
                <a:rPr lang="en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p=.008 —— </a:t>
              </a:r>
              <a:r>
                <a:rPr lang="zh-CN" altLang="en-US" sz="2100" dirty="0">
                  <a:solidFill>
                    <a:srgbClr val="F0D6E2"/>
                  </a:solidFill>
                  <a:latin typeface="Microsoft YaHei"/>
                  <a:ea typeface="Microsoft YaHei"/>
                </a:rPr>
                <a:t>推论不一致</a:t>
              </a:r>
              <a:endParaRPr sz="2100" dirty="0">
                <a:solidFill>
                  <a:srgbClr val="F0D6E2"/>
                </a:solidFill>
                <a:latin typeface="Microsoft YaHei"/>
                <a:ea typeface="Microsoft YaHei"/>
              </a:endParaRPr>
            </a:p>
          </p:txBody>
        </p:sp>
      </p:grpSp>
      <p:sp>
        <p:nvSpPr>
          <p:cNvPr id="37" name="TextBox 8">
            <a:extLst>
              <a:ext uri="{FF2B5EF4-FFF2-40B4-BE49-F238E27FC236}">
                <a16:creationId xmlns:a16="http://schemas.microsoft.com/office/drawing/2014/main" id="{95F06C43-0431-51C8-5802-EFB6EF201BF5}"/>
              </a:ext>
            </a:extLst>
          </p:cNvPr>
          <p:cNvSpPr txBox="1"/>
          <p:nvPr/>
        </p:nvSpPr>
        <p:spPr>
          <a:xfrm>
            <a:off x="932689" y="1092612"/>
            <a:ext cx="16422620" cy="421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lang="en-US" altLang="zh-CN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⑥</a:t>
            </a:r>
            <a:r>
              <a:rPr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2800" b="1" dirty="0">
                <a:solidFill>
                  <a:srgbClr val="E2869C"/>
                </a:solidFill>
                <a:latin typeface="Microsoft YaHei"/>
                <a:ea typeface="Microsoft YaHei"/>
              </a:rPr>
              <a:t>混合效应回归模型复现结果</a:t>
            </a:r>
            <a:endParaRPr sz="2800" b="1" dirty="0">
              <a:solidFill>
                <a:srgbClr val="E2869C"/>
              </a:solidFill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24754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2" name="object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2746" y="580760"/>
            <a:ext cx="15749514" cy="9705967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A8EDFBD2-E881-492B-8EE6-51FD5300CD78}"/>
              </a:ext>
            </a:extLst>
          </p:cNvPr>
          <p:cNvSpPr>
            <a:spLocks noGrp="1"/>
          </p:cNvSpPr>
          <p:nvPr/>
        </p:nvSpPr>
        <p:spPr>
          <a:xfrm>
            <a:off x="6162158" y="3927001"/>
            <a:ext cx="8128001" cy="185948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12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Thanks</a:t>
            </a:r>
            <a:endParaRPr sz="120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963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1060</TotalTime>
  <Words>2498</Words>
  <Application>Microsoft Macintosh PowerPoint</Application>
  <DocSecurity>0</DocSecurity>
  <PresentationFormat>自定义</PresentationFormat>
  <Paragraphs>379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宋体</vt:lpstr>
      <vt:lpstr>Microsoft YaHei</vt:lpstr>
      <vt:lpstr>Microsoft YaHei</vt:lpstr>
      <vt:lpstr>Arial</vt:lpstr>
      <vt:lpstr>Calibri</vt:lpstr>
      <vt:lpstr>Consolas</vt:lpstr>
      <vt:lpstr>Wingdings</vt:lpstr>
      <vt:lpstr>Office Theme</vt:lpstr>
      <vt:lpstr>Cognitive capacity limitations and Need for Cognition differentially predict reward-induced cognitive effort expenditure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camellia sun</cp:lastModifiedBy>
  <cp:revision>30</cp:revision>
  <dcterms:created xsi:type="dcterms:W3CDTF">2026-06-02T14:29:30Z</dcterms:created>
  <dcterms:modified xsi:type="dcterms:W3CDTF">2026-06-04T07:53:25Z</dcterms:modified>
</cp:coreProperties>
</file>